
<file path=[Content_Types].xml><?xml version="1.0" encoding="utf-8"?>
<Types xmlns="http://schemas.openxmlformats.org/package/2006/content-types">
  <Default Extension="odttf" ContentType="application/vnd.openxmlformats-officedocument.obfuscatedFont"/>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8F95F10-30A6-46B8-A0F7-AD71A0D67EBB}">
  <a:tblStyle styleId="{78F95F10-30A6-46B8-A0F7-AD71A0D67EBB}"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8" Type="http://schemas.openxmlformats.org/officeDocument/2006/relationships/slide" Target="slides/slide2.xml"/><Relationship Id="rId3" Type="http://schemas.openxmlformats.org/officeDocument/2006/relationships/presProps" Target="presProps.xml"/><Relationship Id="rId21"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7" Type="http://schemas.openxmlformats.org/officeDocument/2006/relationships/slide" Target="slides/slide1.xml"/><Relationship Id="rId2" Type="http://schemas.openxmlformats.org/officeDocument/2006/relationships/viewProps" Target="viewProps.xml"/><Relationship Id="rId16" Type="http://schemas.openxmlformats.org/officeDocument/2006/relationships/slide" Target="slides/slide10.xml"/><Relationship Id="rId20" Type="http://schemas.openxmlformats.org/officeDocument/2006/relationships/customXml" Target="../customXml/item2.xml"/><Relationship Id="rId11" Type="http://schemas.openxmlformats.org/officeDocument/2006/relationships/slide" Target="slides/slide5.xml"/><Relationship Id="rId1" Type="http://schemas.openxmlformats.org/officeDocument/2006/relationships/theme" Target="theme/theme1.xml"/><Relationship Id="rId6" Type="http://schemas.openxmlformats.org/officeDocument/2006/relationships/notesMaster" Target="notesMasters/notesMaster1.xml"/><Relationship Id="rId15" Type="http://schemas.openxmlformats.org/officeDocument/2006/relationships/slide" Target="slides/slide9.xml"/><Relationship Id="rId5" Type="http://schemas.openxmlformats.org/officeDocument/2006/relationships/slideMaster" Target="slideMasters/slideMaster1.xml"/><Relationship Id="rId10" Type="http://schemas.openxmlformats.org/officeDocument/2006/relationships/slide" Target="slides/slide4.xml"/><Relationship Id="rId19" Type="http://schemas.openxmlformats.org/officeDocument/2006/relationships/customXml" Target="../customXml/item1.xml"/><Relationship Id="rId4" Type="http://schemas.openxmlformats.org/officeDocument/2006/relationships/tableStyles" Target="tableStyles.xml"/><Relationship Id="rId9" Type="http://schemas.openxmlformats.org/officeDocument/2006/relationships/slide" Target="slides/slide3.xml"/><Relationship Id="rId1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1.png"/><Relationship Id="rId5" Type="http://schemas.openxmlformats.org/officeDocument/2006/relationships/image" Target="../media/image29.png"/><Relationship Id="rId6" Type="http://schemas.openxmlformats.org/officeDocument/2006/relationships/image" Target="../media/image24.png"/><Relationship Id="rId7"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34.png"/><Relationship Id="rId5" Type="http://schemas.openxmlformats.org/officeDocument/2006/relationships/image" Target="../media/image32.png"/><Relationship Id="rId6" Type="http://schemas.openxmlformats.org/officeDocument/2006/relationships/image" Target="../media/image11.png"/><Relationship Id="rId7" Type="http://schemas.openxmlformats.org/officeDocument/2006/relationships/image" Target="../media/image15.png"/><Relationship Id="rId8"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35.png"/><Relationship Id="rId5" Type="http://schemas.openxmlformats.org/officeDocument/2006/relationships/image" Target="../media/image25.png"/><Relationship Id="rId6"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23.png"/><Relationship Id="rId5" Type="http://schemas.openxmlformats.org/officeDocument/2006/relationships/image" Target="../media/image33.png"/><Relationship Id="rId6" Type="http://schemas.openxmlformats.org/officeDocument/2006/relationships/image" Target="../media/image30.png"/><Relationship Id="rId7"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83" name="Shape 83"/>
        <p:cNvGrpSpPr/>
        <p:nvPr/>
      </p:nvGrpSpPr>
      <p:grpSpPr>
        <a:xfrm>
          <a:off x="0" y="0"/>
          <a:ext cx="0" cy="0"/>
          <a:chOff x="0" y="0"/>
          <a:chExt cx="0" cy="0"/>
        </a:xfrm>
      </p:grpSpPr>
      <p:sp>
        <p:nvSpPr>
          <p:cNvPr id="84" name="Google Shape;84;p13"/>
          <p:cNvSpPr txBox="1"/>
          <p:nvPr/>
        </p:nvSpPr>
        <p:spPr>
          <a:xfrm>
            <a:off x="2835592" y="1676400"/>
            <a:ext cx="6520815" cy="219447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F3F0DF"/>
                </a:solidFill>
                <a:latin typeface="Noto Sans JP"/>
                <a:ea typeface="Noto Sans JP"/>
                <a:cs typeface="Noto Sans JP"/>
                <a:sym typeface="Noto Sans JP"/>
              </a:rPr>
              <a:t>中小受託取引適正化法</a:t>
            </a:r>
            <a:br>
              <a:rPr b="0" i="0" lang="en-US" sz="1800" u="none" cap="none" strike="noStrike">
                <a:solidFill>
                  <a:schemeClr val="dk1"/>
                </a:solidFill>
                <a:latin typeface="Calibri"/>
                <a:ea typeface="Calibri"/>
                <a:cs typeface="Calibri"/>
                <a:sym typeface="Calibri"/>
              </a:rPr>
            </a:br>
            <a:r>
              <a:rPr b="1" i="0" lang="en-US" sz="4800" u="none" cap="none" strike="noStrike">
                <a:solidFill>
                  <a:srgbClr val="F3F0DF"/>
                </a:solidFill>
                <a:latin typeface="Noto Sans JP"/>
                <a:ea typeface="Noto Sans JP"/>
                <a:cs typeface="Noto Sans JP"/>
                <a:sym typeface="Noto Sans JP"/>
              </a:rPr>
              <a:t> （旧：下請法）</a:t>
            </a:r>
            <a:br>
              <a:rPr b="0" i="0" lang="en-US" sz="1800" u="none" cap="none" strike="noStrike">
                <a:solidFill>
                  <a:schemeClr val="dk1"/>
                </a:solidFill>
                <a:latin typeface="Calibri"/>
                <a:ea typeface="Calibri"/>
                <a:cs typeface="Calibri"/>
                <a:sym typeface="Calibri"/>
              </a:rPr>
            </a:br>
            <a:r>
              <a:rPr b="1" i="0" lang="en-US" sz="4800" u="none" cap="none" strike="noStrike">
                <a:solidFill>
                  <a:srgbClr val="F3F0DF"/>
                </a:solidFill>
                <a:latin typeface="Noto Sans JP"/>
                <a:ea typeface="Noto Sans JP"/>
                <a:cs typeface="Noto Sans JP"/>
                <a:sym typeface="Noto Sans JP"/>
              </a:rPr>
              <a:t> 改正ガイドライン講義</a:t>
            </a:r>
            <a:endParaRPr/>
          </a:p>
        </p:txBody>
      </p:sp>
      <p:sp>
        <p:nvSpPr>
          <p:cNvPr id="85" name="Google Shape;85;p13"/>
          <p:cNvSpPr txBox="1"/>
          <p:nvPr/>
        </p:nvSpPr>
        <p:spPr>
          <a:xfrm>
            <a:off x="2990850" y="4061370"/>
            <a:ext cx="6210300" cy="85338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None/>
            </a:pPr>
            <a:r>
              <a:rPr b="0" i="0" lang="en-US" sz="2100" u="none" cap="none" strike="noStrike">
                <a:solidFill>
                  <a:srgbClr val="E2E8F0"/>
                </a:solidFill>
                <a:latin typeface="Noto Sans JP"/>
                <a:ea typeface="Noto Sans JP"/>
                <a:cs typeface="Noto Sans JP"/>
                <a:sym typeface="Noto Sans JP"/>
              </a:rPr>
              <a:t>発注担当者向け：1時間で学ぶ制度改正のポイント</a:t>
            </a:r>
            <a:br>
              <a:rPr b="0" i="0" lang="en-US" sz="1800" u="none" cap="none" strike="noStrike">
                <a:solidFill>
                  <a:schemeClr val="dk1"/>
                </a:solidFill>
                <a:latin typeface="Calibri"/>
                <a:ea typeface="Calibri"/>
                <a:cs typeface="Calibri"/>
                <a:sym typeface="Calibri"/>
              </a:rPr>
            </a:br>
            <a:r>
              <a:rPr b="0" i="0" lang="en-US" sz="2100" u="none" cap="none" strike="noStrike">
                <a:solidFill>
                  <a:srgbClr val="E2E8F0"/>
                </a:solidFill>
                <a:latin typeface="Noto Sans JP"/>
                <a:ea typeface="Noto Sans JP"/>
                <a:cs typeface="Noto Sans JP"/>
                <a:sym typeface="Noto Sans JP"/>
              </a:rPr>
              <a:t> 施行：令和8年1月1日</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89" name="Shape 89"/>
        <p:cNvGrpSpPr/>
        <p:nvPr/>
      </p:nvGrpSpPr>
      <p:grpSpPr>
        <a:xfrm>
          <a:off x="0" y="0"/>
          <a:ext cx="0" cy="0"/>
          <a:chOff x="0" y="0"/>
          <a:chExt cx="0" cy="0"/>
        </a:xfrm>
      </p:grpSpPr>
      <p:pic>
        <p:nvPicPr>
          <p:cNvPr descr="image.png" id="90" name="Google Shape;90;p14"/>
          <p:cNvPicPr preferRelativeResize="0"/>
          <p:nvPr/>
        </p:nvPicPr>
        <p:blipFill rotWithShape="1">
          <a:blip r:embed="rId3">
            <a:alphaModFix/>
          </a:blip>
          <a:srcRect b="0" l="0" r="0" t="0"/>
          <a:stretch/>
        </p:blipFill>
        <p:spPr>
          <a:xfrm>
            <a:off x="476250" y="2590800"/>
            <a:ext cx="5429250" cy="3028950"/>
          </a:xfrm>
          <a:prstGeom prst="rect">
            <a:avLst/>
          </a:prstGeom>
          <a:noFill/>
          <a:ln>
            <a:noFill/>
          </a:ln>
        </p:spPr>
      </p:pic>
      <p:pic>
        <p:nvPicPr>
          <p:cNvPr descr="image.png" id="91" name="Google Shape;91;p14"/>
          <p:cNvPicPr preferRelativeResize="0"/>
          <p:nvPr/>
        </p:nvPicPr>
        <p:blipFill rotWithShape="1">
          <a:blip r:embed="rId4">
            <a:alphaModFix/>
          </a:blip>
          <a:srcRect b="0" l="0" r="0" t="0"/>
          <a:stretch/>
        </p:blipFill>
        <p:spPr>
          <a:xfrm>
            <a:off x="6286500" y="2590800"/>
            <a:ext cx="5429250" cy="3028950"/>
          </a:xfrm>
          <a:prstGeom prst="rect">
            <a:avLst/>
          </a:prstGeom>
          <a:noFill/>
          <a:ln>
            <a:noFill/>
          </a:ln>
        </p:spPr>
      </p:pic>
      <p:sp>
        <p:nvSpPr>
          <p:cNvPr id="92" name="Google Shape;92;p14"/>
          <p:cNvSpPr txBox="1"/>
          <p:nvPr/>
        </p:nvSpPr>
        <p:spPr>
          <a:xfrm>
            <a:off x="762000" y="2876550"/>
            <a:ext cx="5100637" cy="361950"/>
          </a:xfrm>
          <a:prstGeom prst="rect">
            <a:avLst/>
          </a:prstGeom>
          <a:noFill/>
          <a:ln>
            <a:noFill/>
          </a:ln>
        </p:spPr>
        <p:txBody>
          <a:bodyPr anchorCtr="0" anchor="t" bIns="0" lIns="20745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Noto Sans JP"/>
                <a:ea typeface="Noto Sans JP"/>
                <a:cs typeface="Noto Sans JP"/>
                <a:sym typeface="Noto Sans JP"/>
              </a:rPr>
              <a:t>改正の目的</a:t>
            </a:r>
            <a:endParaRPr/>
          </a:p>
        </p:txBody>
      </p:sp>
      <p:sp>
        <p:nvSpPr>
          <p:cNvPr id="93" name="Google Shape;93;p14"/>
          <p:cNvSpPr txBox="1"/>
          <p:nvPr/>
        </p:nvSpPr>
        <p:spPr>
          <a:xfrm>
            <a:off x="762000" y="3429000"/>
            <a:ext cx="48577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中小企業が公正に取引を行い、適切な利益を確保できる環境を整備するため、「下請法」が抜本的に見直されました。</a:t>
            </a:r>
            <a:endParaRPr/>
          </a:p>
        </p:txBody>
      </p:sp>
      <p:sp>
        <p:nvSpPr>
          <p:cNvPr id="94" name="Google Shape;94;p14"/>
          <p:cNvSpPr txBox="1"/>
          <p:nvPr/>
        </p:nvSpPr>
        <p:spPr>
          <a:xfrm>
            <a:off x="762000" y="4533900"/>
            <a:ext cx="4857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「取適法（とりてきほう）」</a:t>
            </a:r>
            <a:r>
              <a:rPr b="0" i="0" lang="en-US" sz="1500" u="none" cap="none" strike="noStrike">
                <a:solidFill>
                  <a:srgbClr val="333333"/>
                </a:solidFill>
                <a:latin typeface="Noto Sans JP"/>
                <a:ea typeface="Noto Sans JP"/>
                <a:cs typeface="Noto Sans JP"/>
                <a:sym typeface="Noto Sans JP"/>
              </a:rPr>
              <a:t>へと名称が変わり、取引の公正化と中小事業者の保護が強化されます。</a:t>
            </a:r>
            <a:endParaRPr/>
          </a:p>
        </p:txBody>
      </p:sp>
      <p:sp>
        <p:nvSpPr>
          <p:cNvPr id="95" name="Google Shape;95;p14"/>
          <p:cNvSpPr txBox="1"/>
          <p:nvPr/>
        </p:nvSpPr>
        <p:spPr>
          <a:xfrm>
            <a:off x="6572250" y="2876550"/>
            <a:ext cx="5100637" cy="361950"/>
          </a:xfrm>
          <a:prstGeom prst="rect">
            <a:avLst/>
          </a:prstGeom>
          <a:noFill/>
          <a:ln>
            <a:noFill/>
          </a:ln>
        </p:spPr>
        <p:txBody>
          <a:bodyPr anchorCtr="0" anchor="t" bIns="0" lIns="20745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Noto Sans JP"/>
                <a:ea typeface="Noto Sans JP"/>
                <a:cs typeface="Noto Sans JP"/>
                <a:sym typeface="Noto Sans JP"/>
              </a:rPr>
              <a:t>スケジュール</a:t>
            </a:r>
            <a:endParaRPr/>
          </a:p>
        </p:txBody>
      </p:sp>
      <p:sp>
        <p:nvSpPr>
          <p:cNvPr id="96" name="Google Shape;96;p14"/>
          <p:cNvSpPr txBox="1"/>
          <p:nvPr/>
        </p:nvSpPr>
        <p:spPr>
          <a:xfrm>
            <a:off x="6572250" y="4276725"/>
            <a:ext cx="48577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666666"/>
                </a:solidFill>
                <a:latin typeface="Noto Sans JP"/>
                <a:ea typeface="Noto Sans JP"/>
                <a:cs typeface="Noto Sans JP"/>
                <a:sym typeface="Noto Sans JP"/>
              </a:rPr>
              <a:t>※これに伴い、社内規定の見直しやシステム改修などの準備期間が必要です。</a:t>
            </a:r>
            <a:endParaRPr/>
          </a:p>
        </p:txBody>
      </p:sp>
      <p:pic>
        <p:nvPicPr>
          <p:cNvPr descr="image.png" id="97" name="Google Shape;97;p14"/>
          <p:cNvPicPr preferRelativeResize="0"/>
          <p:nvPr/>
        </p:nvPicPr>
        <p:blipFill rotWithShape="1">
          <a:blip r:embed="rId5">
            <a:alphaModFix/>
          </a:blip>
          <a:srcRect b="0" l="0" r="0" t="0"/>
          <a:stretch/>
        </p:blipFill>
        <p:spPr>
          <a:xfrm>
            <a:off x="762000" y="2924175"/>
            <a:ext cx="207466" cy="266700"/>
          </a:xfrm>
          <a:prstGeom prst="rect">
            <a:avLst/>
          </a:prstGeom>
          <a:noFill/>
          <a:ln>
            <a:noFill/>
          </a:ln>
        </p:spPr>
      </p:pic>
      <p:pic>
        <p:nvPicPr>
          <p:cNvPr descr="image.png" id="98" name="Google Shape;98;p14"/>
          <p:cNvPicPr preferRelativeResize="0"/>
          <p:nvPr/>
        </p:nvPicPr>
        <p:blipFill rotWithShape="1">
          <a:blip r:embed="rId6">
            <a:alphaModFix/>
          </a:blip>
          <a:srcRect b="0" l="0" r="0" t="0"/>
          <a:stretch/>
        </p:blipFill>
        <p:spPr>
          <a:xfrm>
            <a:off x="6572250" y="2924175"/>
            <a:ext cx="207466" cy="266700"/>
          </a:xfrm>
          <a:prstGeom prst="rect">
            <a:avLst/>
          </a:prstGeom>
          <a:noFill/>
          <a:ln>
            <a:noFill/>
          </a:ln>
        </p:spPr>
      </p:pic>
      <p:sp>
        <p:nvSpPr>
          <p:cNvPr id="99" name="Google Shape;99;p14"/>
          <p:cNvSpPr txBox="1"/>
          <p:nvPr/>
        </p:nvSpPr>
        <p:spPr>
          <a:xfrm>
            <a:off x="6696075" y="3381375"/>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a:t>
            </a:r>
            <a:endParaRPr/>
          </a:p>
        </p:txBody>
      </p:sp>
      <p:sp>
        <p:nvSpPr>
          <p:cNvPr id="100" name="Google Shape;100;p14"/>
          <p:cNvSpPr txBox="1"/>
          <p:nvPr/>
        </p:nvSpPr>
        <p:spPr>
          <a:xfrm>
            <a:off x="6762750" y="3381375"/>
            <a:ext cx="4667250" cy="3048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公布日：</a:t>
            </a:r>
            <a:r>
              <a:rPr b="0" i="0" lang="en-US" sz="1500" u="none" cap="none" strike="noStrike">
                <a:solidFill>
                  <a:srgbClr val="333333"/>
                </a:solidFill>
                <a:latin typeface="Noto Sans JP"/>
                <a:ea typeface="Noto Sans JP"/>
                <a:cs typeface="Noto Sans JP"/>
                <a:sym typeface="Noto Sans JP"/>
              </a:rPr>
              <a:t>令和7年5月23日</a:t>
            </a:r>
            <a:endParaRPr/>
          </a:p>
        </p:txBody>
      </p:sp>
      <p:sp>
        <p:nvSpPr>
          <p:cNvPr id="101" name="Google Shape;101;p14"/>
          <p:cNvSpPr txBox="1"/>
          <p:nvPr/>
        </p:nvSpPr>
        <p:spPr>
          <a:xfrm>
            <a:off x="6696075" y="3781425"/>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a:t>
            </a:r>
            <a:endParaRPr/>
          </a:p>
        </p:txBody>
      </p:sp>
      <p:sp>
        <p:nvSpPr>
          <p:cNvPr id="102" name="Google Shape;102;p14"/>
          <p:cNvSpPr txBox="1"/>
          <p:nvPr/>
        </p:nvSpPr>
        <p:spPr>
          <a:xfrm>
            <a:off x="6762750" y="3781425"/>
            <a:ext cx="4667250" cy="3048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施行日：</a:t>
            </a:r>
            <a:r>
              <a:rPr b="0" i="0" lang="en-US" sz="1500" u="none" cap="none" strike="noStrike">
                <a:solidFill>
                  <a:srgbClr val="333333"/>
                </a:solidFill>
                <a:latin typeface="Noto Sans JP"/>
                <a:ea typeface="Noto Sans JP"/>
                <a:cs typeface="Noto Sans JP"/>
                <a:sym typeface="Noto Sans JP"/>
              </a:rPr>
              <a:t>令和8年（2026年）1月1日</a:t>
            </a:r>
            <a:endParaRPr/>
          </a:p>
        </p:txBody>
      </p:sp>
      <p:sp>
        <p:nvSpPr>
          <p:cNvPr id="103" name="Google Shape;103;p14"/>
          <p:cNvSpPr txBox="1"/>
          <p:nvPr/>
        </p:nvSpPr>
        <p:spPr>
          <a:xfrm>
            <a:off x="476250" y="476250"/>
            <a:ext cx="11715750" cy="638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Noto Sans JP"/>
                <a:ea typeface="Noto Sans JP"/>
                <a:cs typeface="Noto Sans JP"/>
                <a:sym typeface="Noto Sans JP"/>
              </a:rPr>
              <a:t>法改正の背景とスケジュール</a:t>
            </a:r>
            <a:endParaRPr/>
          </a:p>
        </p:txBody>
      </p:sp>
      <p:sp>
        <p:nvSpPr>
          <p:cNvPr id="104" name="Google Shape;104;p14"/>
          <p:cNvSpPr/>
          <p:nvPr/>
        </p:nvSpPr>
        <p:spPr>
          <a:xfrm>
            <a:off x="476250" y="1228725"/>
            <a:ext cx="112395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08" name="Shape 108"/>
        <p:cNvGrpSpPr/>
        <p:nvPr/>
      </p:nvGrpSpPr>
      <p:grpSpPr>
        <a:xfrm>
          <a:off x="0" y="0"/>
          <a:ext cx="0" cy="0"/>
          <a:chOff x="0" y="0"/>
          <a:chExt cx="0" cy="0"/>
        </a:xfrm>
      </p:grpSpPr>
      <p:sp>
        <p:nvSpPr>
          <p:cNvPr id="109" name="Google Shape;109;p15"/>
          <p:cNvSpPr txBox="1"/>
          <p:nvPr/>
        </p:nvSpPr>
        <p:spPr>
          <a:xfrm>
            <a:off x="476250" y="2066925"/>
            <a:ext cx="11239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法律の名称変更に伴い、契約書や発注書で使用する用語も変更となります。</a:t>
            </a:r>
            <a:endParaRPr/>
          </a:p>
        </p:txBody>
      </p:sp>
      <p:graphicFrame>
        <p:nvGraphicFramePr>
          <p:cNvPr id="110" name="Google Shape;110;p15"/>
          <p:cNvGraphicFramePr/>
          <p:nvPr/>
        </p:nvGraphicFramePr>
        <p:xfrm>
          <a:off x="476250" y="2562225"/>
          <a:ext cx="3000000" cy="3000000"/>
        </p:xfrm>
        <a:graphic>
          <a:graphicData uri="http://schemas.openxmlformats.org/drawingml/2006/table">
            <a:tbl>
              <a:tblPr bandRow="1" firstRow="1">
                <a:noFill/>
                <a:tableStyleId>{78F95F10-30A6-46B8-A0F7-AD71A0D67EBB}</a:tableStyleId>
              </a:tblPr>
              <a:tblGrid>
                <a:gridCol w="3371850"/>
                <a:gridCol w="3933825"/>
                <a:gridCol w="3933825"/>
              </a:tblGrid>
              <a:tr h="754375">
                <a:tc>
                  <a:txBody>
                    <a:bodyPr/>
                    <a:lstStyle/>
                    <a:p>
                      <a:pPr indent="0" lvl="0" marL="0" marR="0" rtl="0" algn="l">
                        <a:spcBef>
                          <a:spcPts val="0"/>
                        </a:spcBef>
                        <a:spcAft>
                          <a:spcPts val="0"/>
                        </a:spcAft>
                        <a:buNone/>
                      </a:pPr>
                      <a:r>
                        <a:rPr b="1" i="0" lang="en-US" sz="1500" u="none" cap="none" strike="noStrike">
                          <a:solidFill>
                            <a:srgbClr val="FFFFFF"/>
                          </a:solidFill>
                          <a:latin typeface="Noto Sans JP"/>
                          <a:ea typeface="Noto Sans JP"/>
                          <a:cs typeface="Noto Sans JP"/>
                          <a:sym typeface="Noto Sans JP"/>
                        </a:rPr>
                        <a:t>区分</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5088"/>
                    </a:solidFill>
                  </a:tcPr>
                </a:tc>
                <a:tc>
                  <a:txBody>
                    <a:bodyPr/>
                    <a:lstStyle/>
                    <a:p>
                      <a:pPr indent="0" lvl="0" marL="0" marR="0" rtl="0" algn="l">
                        <a:spcBef>
                          <a:spcPts val="0"/>
                        </a:spcBef>
                        <a:spcAft>
                          <a:spcPts val="0"/>
                        </a:spcAft>
                        <a:buNone/>
                      </a:pPr>
                      <a:r>
                        <a:rPr b="1" i="0" lang="en-US" sz="1500" u="none" cap="none" strike="noStrike">
                          <a:solidFill>
                            <a:srgbClr val="FFFFFF"/>
                          </a:solidFill>
                          <a:latin typeface="Noto Sans JP"/>
                          <a:ea typeface="Noto Sans JP"/>
                          <a:cs typeface="Noto Sans JP"/>
                          <a:sym typeface="Noto Sans JP"/>
                        </a:rPr>
                        <a:t>旧（下請法）</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5088"/>
                    </a:solidFill>
                  </a:tcPr>
                </a:tc>
                <a:tc>
                  <a:txBody>
                    <a:bodyPr/>
                    <a:lstStyle/>
                    <a:p>
                      <a:pPr indent="0" lvl="0" marL="0" marR="0" rtl="0" algn="l">
                        <a:spcBef>
                          <a:spcPts val="0"/>
                        </a:spcBef>
                        <a:spcAft>
                          <a:spcPts val="0"/>
                        </a:spcAft>
                        <a:buNone/>
                      </a:pPr>
                      <a:r>
                        <a:rPr b="1" i="0" lang="en-US" sz="1500" u="none" cap="none" strike="noStrike">
                          <a:solidFill>
                            <a:srgbClr val="FFFFFF"/>
                          </a:solidFill>
                          <a:latin typeface="Noto Sans JP"/>
                          <a:ea typeface="Noto Sans JP"/>
                          <a:cs typeface="Noto Sans JP"/>
                          <a:sym typeface="Noto Sans JP"/>
                        </a:rPr>
                        <a:t>新（取適法）</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5088"/>
                    </a:solidFill>
                  </a:tcPr>
                </a:tc>
              </a:tr>
              <a:tr h="754375">
                <a:tc>
                  <a:txBody>
                    <a:bodyPr/>
                    <a:lstStyle/>
                    <a:p>
                      <a:pPr indent="0" lvl="0" marL="0" marR="0" rtl="0" algn="l">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法律名</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下請代金支払遅延等防止法</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中小受託取引適正化法</a:t>
                      </a:r>
                      <a:br>
                        <a:rPr lang="en-US" sz="1800" u="none" cap="none" strike="noStrike">
                          <a:solidFill>
                            <a:schemeClr val="dk1"/>
                          </a:solidFill>
                          <a:latin typeface="Calibri"/>
                          <a:ea typeface="Calibri"/>
                          <a:cs typeface="Calibri"/>
                          <a:sym typeface="Calibri"/>
                        </a:rPr>
                      </a:br>
                      <a:br>
                        <a:rPr b="0" i="0" lang="en-US" sz="1500" u="none" cap="none" strike="noStrike">
                          <a:solidFill>
                            <a:srgbClr val="333333"/>
                          </a:solidFill>
                          <a:latin typeface="Noto Sans JP"/>
                          <a:ea typeface="Noto Sans JP"/>
                          <a:cs typeface="Noto Sans JP"/>
                          <a:sym typeface="Noto Sans JP"/>
                        </a:rPr>
                      </a:br>
                      <a:r>
                        <a:rPr b="0" i="0" lang="en-US" sz="1500" u="none" cap="none" strike="noStrike">
                          <a:solidFill>
                            <a:srgbClr val="333333"/>
                          </a:solidFill>
                          <a:latin typeface="Noto Sans JP"/>
                          <a:ea typeface="Noto Sans JP"/>
                          <a:cs typeface="Noto Sans JP"/>
                          <a:sym typeface="Noto Sans JP"/>
                        </a:rPr>
                        <a:t>        （略称：取適法）</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375">
                <a:tc>
                  <a:txBody>
                    <a:bodyPr/>
                    <a:lstStyle/>
                    <a:p>
                      <a:pPr indent="0" lvl="0" marL="0" marR="0" rtl="0" algn="l">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発注者</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親事業者</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委託事業者</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375">
                <a:tc>
                  <a:txBody>
                    <a:bodyPr/>
                    <a:lstStyle/>
                    <a:p>
                      <a:pPr indent="0" lvl="0" marL="0" marR="0" rtl="0" algn="l">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受注者</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下請事業者</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中小受託事業者</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375">
                <a:tc>
                  <a:txBody>
                    <a:bodyPr/>
                    <a:lstStyle/>
                    <a:p>
                      <a:pPr indent="0" lvl="0" marL="0" marR="0" rtl="0" algn="l">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取引代金</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下請代金</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製造委託等代金</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11" name="Google Shape;111;p15"/>
          <p:cNvSpPr/>
          <p:nvPr/>
        </p:nvSpPr>
        <p:spPr>
          <a:xfrm>
            <a:off x="476250" y="3243262"/>
            <a:ext cx="337185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15"/>
          <p:cNvSpPr/>
          <p:nvPr/>
        </p:nvSpPr>
        <p:spPr>
          <a:xfrm>
            <a:off x="3848100" y="3243262"/>
            <a:ext cx="393382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15"/>
          <p:cNvSpPr/>
          <p:nvPr/>
        </p:nvSpPr>
        <p:spPr>
          <a:xfrm>
            <a:off x="7781925" y="3243262"/>
            <a:ext cx="393382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15"/>
          <p:cNvSpPr/>
          <p:nvPr/>
        </p:nvSpPr>
        <p:spPr>
          <a:xfrm>
            <a:off x="476250" y="4243387"/>
            <a:ext cx="337185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15"/>
          <p:cNvSpPr/>
          <p:nvPr/>
        </p:nvSpPr>
        <p:spPr>
          <a:xfrm>
            <a:off x="3848100" y="4243387"/>
            <a:ext cx="393382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 name="Google Shape;116;p15"/>
          <p:cNvSpPr/>
          <p:nvPr/>
        </p:nvSpPr>
        <p:spPr>
          <a:xfrm>
            <a:off x="7781925" y="4243387"/>
            <a:ext cx="393382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15"/>
          <p:cNvSpPr/>
          <p:nvPr/>
        </p:nvSpPr>
        <p:spPr>
          <a:xfrm>
            <a:off x="476250" y="4938712"/>
            <a:ext cx="337185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8" name="Google Shape;118;p15"/>
          <p:cNvSpPr/>
          <p:nvPr/>
        </p:nvSpPr>
        <p:spPr>
          <a:xfrm>
            <a:off x="3848100" y="4938712"/>
            <a:ext cx="393382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p15"/>
          <p:cNvSpPr/>
          <p:nvPr/>
        </p:nvSpPr>
        <p:spPr>
          <a:xfrm>
            <a:off x="7781925" y="4938712"/>
            <a:ext cx="393382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0" name="Google Shape;120;p15"/>
          <p:cNvSpPr/>
          <p:nvPr/>
        </p:nvSpPr>
        <p:spPr>
          <a:xfrm>
            <a:off x="476250" y="5634037"/>
            <a:ext cx="337185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1" name="Google Shape;121;p15"/>
          <p:cNvSpPr/>
          <p:nvPr/>
        </p:nvSpPr>
        <p:spPr>
          <a:xfrm>
            <a:off x="3848100" y="5634037"/>
            <a:ext cx="393382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Google Shape;122;p15"/>
          <p:cNvSpPr/>
          <p:nvPr/>
        </p:nvSpPr>
        <p:spPr>
          <a:xfrm>
            <a:off x="7781925" y="5634037"/>
            <a:ext cx="393382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15"/>
          <p:cNvSpPr txBox="1"/>
          <p:nvPr/>
        </p:nvSpPr>
        <p:spPr>
          <a:xfrm>
            <a:off x="476250" y="476250"/>
            <a:ext cx="11715750" cy="638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Noto Sans JP"/>
                <a:ea typeface="Noto Sans JP"/>
                <a:cs typeface="Noto Sans JP"/>
                <a:sym typeface="Noto Sans JP"/>
              </a:rPr>
              <a:t>法律名の変更と新旧対照</a:t>
            </a:r>
            <a:endParaRPr/>
          </a:p>
        </p:txBody>
      </p:sp>
      <p:sp>
        <p:nvSpPr>
          <p:cNvPr id="124" name="Google Shape;124;p15"/>
          <p:cNvSpPr/>
          <p:nvPr/>
        </p:nvSpPr>
        <p:spPr>
          <a:xfrm>
            <a:off x="476250" y="1228725"/>
            <a:ext cx="112395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28" name="Shape 128"/>
        <p:cNvGrpSpPr/>
        <p:nvPr/>
      </p:nvGrpSpPr>
      <p:grpSpPr>
        <a:xfrm>
          <a:off x="0" y="0"/>
          <a:ext cx="0" cy="0"/>
          <a:chOff x="0" y="0"/>
          <a:chExt cx="0" cy="0"/>
        </a:xfrm>
      </p:grpSpPr>
      <p:pic>
        <p:nvPicPr>
          <p:cNvPr descr="image.png" id="129" name="Google Shape;129;p16"/>
          <p:cNvPicPr preferRelativeResize="0"/>
          <p:nvPr/>
        </p:nvPicPr>
        <p:blipFill rotWithShape="1">
          <a:blip r:embed="rId3">
            <a:alphaModFix/>
          </a:blip>
          <a:srcRect b="0" l="0" r="0" t="0"/>
          <a:stretch/>
        </p:blipFill>
        <p:spPr>
          <a:xfrm>
            <a:off x="476250" y="2257425"/>
            <a:ext cx="5429250" cy="3009900"/>
          </a:xfrm>
          <a:prstGeom prst="rect">
            <a:avLst/>
          </a:prstGeom>
          <a:noFill/>
          <a:ln>
            <a:noFill/>
          </a:ln>
        </p:spPr>
      </p:pic>
      <p:pic>
        <p:nvPicPr>
          <p:cNvPr descr="image.png" id="130" name="Google Shape;130;p16"/>
          <p:cNvPicPr preferRelativeResize="0"/>
          <p:nvPr/>
        </p:nvPicPr>
        <p:blipFill rotWithShape="1">
          <a:blip r:embed="rId4">
            <a:alphaModFix/>
          </a:blip>
          <a:srcRect b="0" l="0" r="0" t="0"/>
          <a:stretch/>
        </p:blipFill>
        <p:spPr>
          <a:xfrm>
            <a:off x="6286500" y="2257425"/>
            <a:ext cx="5429250" cy="3009900"/>
          </a:xfrm>
          <a:prstGeom prst="rect">
            <a:avLst/>
          </a:prstGeom>
          <a:noFill/>
          <a:ln>
            <a:noFill/>
          </a:ln>
        </p:spPr>
      </p:pic>
      <p:sp>
        <p:nvSpPr>
          <p:cNvPr id="131" name="Google Shape;131;p16"/>
          <p:cNvSpPr txBox="1"/>
          <p:nvPr/>
        </p:nvSpPr>
        <p:spPr>
          <a:xfrm>
            <a:off x="476250" y="5457825"/>
            <a:ext cx="1123950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500" u="none" cap="none" strike="noStrike">
                <a:solidFill>
                  <a:srgbClr val="D32F2F"/>
                </a:solidFill>
                <a:latin typeface="Noto Sans JP"/>
                <a:ea typeface="Noto Sans JP"/>
                <a:cs typeface="Noto Sans JP"/>
                <a:sym typeface="Noto Sans JP"/>
              </a:rPr>
              <a:t>注意：資本金が小さくても、従業員数が多い場合は規制対象となる可能性があります。</a:t>
            </a:r>
            <a:endParaRPr/>
          </a:p>
        </p:txBody>
      </p:sp>
      <p:sp>
        <p:nvSpPr>
          <p:cNvPr id="132" name="Google Shape;132;p16"/>
          <p:cNvSpPr txBox="1"/>
          <p:nvPr/>
        </p:nvSpPr>
        <p:spPr>
          <a:xfrm>
            <a:off x="762000" y="2543175"/>
            <a:ext cx="5100637" cy="361950"/>
          </a:xfrm>
          <a:prstGeom prst="rect">
            <a:avLst/>
          </a:prstGeom>
          <a:noFill/>
          <a:ln>
            <a:noFill/>
          </a:ln>
        </p:spPr>
        <p:txBody>
          <a:bodyPr anchorCtr="0" anchor="t" bIns="0" lIns="20745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Noto Sans JP"/>
                <a:ea typeface="Noto Sans JP"/>
                <a:cs typeface="Noto Sans JP"/>
                <a:sym typeface="Noto Sans JP"/>
              </a:rPr>
              <a:t>従来の基準（資本金）</a:t>
            </a:r>
            <a:endParaRPr/>
          </a:p>
        </p:txBody>
      </p:sp>
      <p:sp>
        <p:nvSpPr>
          <p:cNvPr id="133" name="Google Shape;133;p16"/>
          <p:cNvSpPr txBox="1"/>
          <p:nvPr/>
        </p:nvSpPr>
        <p:spPr>
          <a:xfrm>
            <a:off x="762000" y="3095625"/>
            <a:ext cx="48577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これまで通り、資本金の額による区分は維持されます。</a:t>
            </a:r>
            <a:endParaRPr/>
          </a:p>
        </p:txBody>
      </p:sp>
      <p:sp>
        <p:nvSpPr>
          <p:cNvPr id="134" name="Google Shape;134;p16"/>
          <p:cNvSpPr txBox="1"/>
          <p:nvPr/>
        </p:nvSpPr>
        <p:spPr>
          <a:xfrm>
            <a:off x="762000" y="4486275"/>
            <a:ext cx="48577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※資本金のみで判定されていました。</a:t>
            </a:r>
            <a:endParaRPr/>
          </a:p>
        </p:txBody>
      </p:sp>
      <p:sp>
        <p:nvSpPr>
          <p:cNvPr id="135" name="Google Shape;135;p16"/>
          <p:cNvSpPr txBox="1"/>
          <p:nvPr/>
        </p:nvSpPr>
        <p:spPr>
          <a:xfrm>
            <a:off x="6572250" y="2543175"/>
            <a:ext cx="5100637" cy="361950"/>
          </a:xfrm>
          <a:prstGeom prst="rect">
            <a:avLst/>
          </a:prstGeom>
          <a:noFill/>
          <a:ln>
            <a:noFill/>
          </a:ln>
        </p:spPr>
        <p:txBody>
          <a:bodyPr anchorCtr="0" anchor="t" bIns="0" lIns="20745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Noto Sans JP"/>
                <a:ea typeface="Noto Sans JP"/>
                <a:cs typeface="Noto Sans JP"/>
                <a:sym typeface="Noto Sans JP"/>
              </a:rPr>
              <a:t>新設された基準（従業員数）</a:t>
            </a:r>
            <a:endParaRPr/>
          </a:p>
        </p:txBody>
      </p:sp>
      <p:sp>
        <p:nvSpPr>
          <p:cNvPr id="136" name="Google Shape;136;p16"/>
          <p:cNvSpPr txBox="1"/>
          <p:nvPr/>
        </p:nvSpPr>
        <p:spPr>
          <a:xfrm>
            <a:off x="6572250" y="3095625"/>
            <a:ext cx="4857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新たに</a:t>
            </a:r>
            <a:r>
              <a:rPr b="1" i="0" lang="en-US" sz="1500" u="none" cap="none" strike="noStrike">
                <a:solidFill>
                  <a:srgbClr val="333333"/>
                </a:solidFill>
                <a:latin typeface="Noto Sans JP"/>
                <a:ea typeface="Noto Sans JP"/>
                <a:cs typeface="Noto Sans JP"/>
                <a:sym typeface="Noto Sans JP"/>
              </a:rPr>
              <a:t>「常時使用する従業員数」</a:t>
            </a:r>
            <a:r>
              <a:rPr b="0" i="0" lang="en-US" sz="1500" u="none" cap="none" strike="noStrike">
                <a:solidFill>
                  <a:srgbClr val="333333"/>
                </a:solidFill>
                <a:latin typeface="Noto Sans JP"/>
                <a:ea typeface="Noto Sans JP"/>
                <a:cs typeface="Noto Sans JP"/>
                <a:sym typeface="Noto Sans JP"/>
              </a:rPr>
              <a:t>による基準が追加され、規制対象が拡大しました。</a:t>
            </a:r>
            <a:endParaRPr/>
          </a:p>
        </p:txBody>
      </p:sp>
      <p:pic>
        <p:nvPicPr>
          <p:cNvPr descr="image.png" id="137" name="Google Shape;137;p16"/>
          <p:cNvPicPr preferRelativeResize="0"/>
          <p:nvPr/>
        </p:nvPicPr>
        <p:blipFill rotWithShape="1">
          <a:blip r:embed="rId5">
            <a:alphaModFix/>
          </a:blip>
          <a:srcRect b="0" l="0" r="0" t="0"/>
          <a:stretch/>
        </p:blipFill>
        <p:spPr>
          <a:xfrm>
            <a:off x="762000" y="2590800"/>
            <a:ext cx="207466" cy="266700"/>
          </a:xfrm>
          <a:prstGeom prst="rect">
            <a:avLst/>
          </a:prstGeom>
          <a:noFill/>
          <a:ln>
            <a:noFill/>
          </a:ln>
        </p:spPr>
      </p:pic>
      <p:sp>
        <p:nvSpPr>
          <p:cNvPr id="138" name="Google Shape;138;p16"/>
          <p:cNvSpPr txBox="1"/>
          <p:nvPr/>
        </p:nvSpPr>
        <p:spPr>
          <a:xfrm>
            <a:off x="885825" y="3590925"/>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a:t>
            </a:r>
            <a:endParaRPr/>
          </a:p>
        </p:txBody>
      </p:sp>
      <p:sp>
        <p:nvSpPr>
          <p:cNvPr id="139" name="Google Shape;139;p16"/>
          <p:cNvSpPr txBox="1"/>
          <p:nvPr/>
        </p:nvSpPr>
        <p:spPr>
          <a:xfrm>
            <a:off x="952500" y="3590925"/>
            <a:ext cx="4667250" cy="3048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3億円超</a:t>
            </a:r>
            <a:endParaRPr/>
          </a:p>
        </p:txBody>
      </p:sp>
      <p:sp>
        <p:nvSpPr>
          <p:cNvPr id="140" name="Google Shape;140;p16"/>
          <p:cNvSpPr txBox="1"/>
          <p:nvPr/>
        </p:nvSpPr>
        <p:spPr>
          <a:xfrm>
            <a:off x="885825" y="3990975"/>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a:t>
            </a:r>
            <a:endParaRPr/>
          </a:p>
        </p:txBody>
      </p:sp>
      <p:sp>
        <p:nvSpPr>
          <p:cNvPr id="141" name="Google Shape;141;p16"/>
          <p:cNvSpPr txBox="1"/>
          <p:nvPr/>
        </p:nvSpPr>
        <p:spPr>
          <a:xfrm>
            <a:off x="952500" y="3990975"/>
            <a:ext cx="4667250" cy="3048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1,000万円超〜3億円以下</a:t>
            </a:r>
            <a:endParaRPr/>
          </a:p>
        </p:txBody>
      </p:sp>
      <p:pic>
        <p:nvPicPr>
          <p:cNvPr descr="image.png" id="142" name="Google Shape;142;p16"/>
          <p:cNvPicPr preferRelativeResize="0"/>
          <p:nvPr/>
        </p:nvPicPr>
        <p:blipFill rotWithShape="1">
          <a:blip r:embed="rId6">
            <a:alphaModFix/>
          </a:blip>
          <a:srcRect b="0" l="0" r="0" t="0"/>
          <a:stretch/>
        </p:blipFill>
        <p:spPr>
          <a:xfrm>
            <a:off x="6572250" y="2590800"/>
            <a:ext cx="207466" cy="266700"/>
          </a:xfrm>
          <a:prstGeom prst="rect">
            <a:avLst/>
          </a:prstGeom>
          <a:noFill/>
          <a:ln>
            <a:noFill/>
          </a:ln>
        </p:spPr>
      </p:pic>
      <p:sp>
        <p:nvSpPr>
          <p:cNvPr id="143" name="Google Shape;143;p16"/>
          <p:cNvSpPr txBox="1"/>
          <p:nvPr/>
        </p:nvSpPr>
        <p:spPr>
          <a:xfrm>
            <a:off x="6696075" y="3895725"/>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a:t>
            </a:r>
            <a:endParaRPr/>
          </a:p>
        </p:txBody>
      </p:sp>
      <p:sp>
        <p:nvSpPr>
          <p:cNvPr id="144" name="Google Shape;144;p16"/>
          <p:cNvSpPr txBox="1"/>
          <p:nvPr/>
        </p:nvSpPr>
        <p:spPr>
          <a:xfrm>
            <a:off x="6762750" y="3895725"/>
            <a:ext cx="4667250" cy="3048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従業員300人超</a:t>
            </a:r>
            <a:r>
              <a:rPr b="0" i="0" lang="en-US" sz="1500" u="none" cap="none" strike="noStrike">
                <a:solidFill>
                  <a:srgbClr val="333333"/>
                </a:solidFill>
                <a:latin typeface="Noto Sans JP"/>
                <a:ea typeface="Noto Sans JP"/>
                <a:cs typeface="Noto Sans JP"/>
                <a:sym typeface="Noto Sans JP"/>
              </a:rPr>
              <a:t>の事業者も「委託事業者」の対象へ</a:t>
            </a:r>
            <a:endParaRPr/>
          </a:p>
        </p:txBody>
      </p:sp>
      <p:sp>
        <p:nvSpPr>
          <p:cNvPr id="145" name="Google Shape;145;p16"/>
          <p:cNvSpPr txBox="1"/>
          <p:nvPr/>
        </p:nvSpPr>
        <p:spPr>
          <a:xfrm>
            <a:off x="6696075" y="4295775"/>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a:t>
            </a:r>
            <a:endParaRPr/>
          </a:p>
        </p:txBody>
      </p:sp>
      <p:sp>
        <p:nvSpPr>
          <p:cNvPr id="146" name="Google Shape;146;p16"/>
          <p:cNvSpPr txBox="1"/>
          <p:nvPr/>
        </p:nvSpPr>
        <p:spPr>
          <a:xfrm>
            <a:off x="6762750" y="4295775"/>
            <a:ext cx="4667250" cy="3048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情報成果物・役務提供は</a:t>
            </a:r>
            <a:r>
              <a:rPr b="1" i="0" lang="en-US" sz="1500" u="none" cap="none" strike="noStrike">
                <a:solidFill>
                  <a:srgbClr val="333333"/>
                </a:solidFill>
                <a:latin typeface="Noto Sans JP"/>
                <a:ea typeface="Noto Sans JP"/>
                <a:cs typeface="Noto Sans JP"/>
                <a:sym typeface="Noto Sans JP"/>
              </a:rPr>
              <a:t>100人超</a:t>
            </a:r>
            <a:r>
              <a:rPr b="0" i="0" lang="en-US" sz="1500" u="none" cap="none" strike="noStrike">
                <a:solidFill>
                  <a:srgbClr val="333333"/>
                </a:solidFill>
                <a:latin typeface="Noto Sans JP"/>
                <a:ea typeface="Noto Sans JP"/>
                <a:cs typeface="Noto Sans JP"/>
                <a:sym typeface="Noto Sans JP"/>
              </a:rPr>
              <a:t>の区分も新設</a:t>
            </a:r>
            <a:endParaRPr/>
          </a:p>
        </p:txBody>
      </p:sp>
      <p:sp>
        <p:nvSpPr>
          <p:cNvPr id="147" name="Google Shape;147;p16"/>
          <p:cNvSpPr txBox="1"/>
          <p:nvPr/>
        </p:nvSpPr>
        <p:spPr>
          <a:xfrm>
            <a:off x="476250" y="476250"/>
            <a:ext cx="11715750" cy="638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Noto Sans JP"/>
                <a:ea typeface="Noto Sans JP"/>
                <a:cs typeface="Noto Sans JP"/>
                <a:sym typeface="Noto Sans JP"/>
              </a:rPr>
              <a:t>適用対象の拡大①：従業員基準の追加</a:t>
            </a:r>
            <a:endParaRPr/>
          </a:p>
        </p:txBody>
      </p:sp>
      <p:sp>
        <p:nvSpPr>
          <p:cNvPr id="148" name="Google Shape;148;p16"/>
          <p:cNvSpPr/>
          <p:nvPr/>
        </p:nvSpPr>
        <p:spPr>
          <a:xfrm>
            <a:off x="476250" y="1228725"/>
            <a:ext cx="112395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52" name="Shape 152"/>
        <p:cNvGrpSpPr/>
        <p:nvPr/>
      </p:nvGrpSpPr>
      <p:grpSpPr>
        <a:xfrm>
          <a:off x="0" y="0"/>
          <a:ext cx="0" cy="0"/>
          <a:chOff x="0" y="0"/>
          <a:chExt cx="0" cy="0"/>
        </a:xfrm>
      </p:grpSpPr>
      <p:pic>
        <p:nvPicPr>
          <p:cNvPr descr="image.png" id="153" name="Google Shape;153;p17"/>
          <p:cNvPicPr preferRelativeResize="0"/>
          <p:nvPr/>
        </p:nvPicPr>
        <p:blipFill rotWithShape="1">
          <a:blip r:embed="rId3">
            <a:alphaModFix/>
          </a:blip>
          <a:srcRect b="0" l="0" r="0" t="0"/>
          <a:stretch/>
        </p:blipFill>
        <p:spPr>
          <a:xfrm>
            <a:off x="476250" y="1704975"/>
            <a:ext cx="5476875" cy="2857500"/>
          </a:xfrm>
          <a:prstGeom prst="rect">
            <a:avLst/>
          </a:prstGeom>
          <a:noFill/>
          <a:ln>
            <a:noFill/>
          </a:ln>
        </p:spPr>
      </p:pic>
      <p:pic>
        <p:nvPicPr>
          <p:cNvPr descr="image.png" id="154" name="Google Shape;154;p17"/>
          <p:cNvPicPr preferRelativeResize="0"/>
          <p:nvPr/>
        </p:nvPicPr>
        <p:blipFill rotWithShape="1">
          <a:blip r:embed="rId3">
            <a:alphaModFix/>
          </a:blip>
          <a:srcRect b="0" l="0" r="0" t="0"/>
          <a:stretch/>
        </p:blipFill>
        <p:spPr>
          <a:xfrm>
            <a:off x="6238875" y="1704975"/>
            <a:ext cx="5476875" cy="2857500"/>
          </a:xfrm>
          <a:prstGeom prst="rect">
            <a:avLst/>
          </a:prstGeom>
          <a:noFill/>
          <a:ln>
            <a:noFill/>
          </a:ln>
        </p:spPr>
      </p:pic>
      <p:sp>
        <p:nvSpPr>
          <p:cNvPr id="155" name="Google Shape;155;p17"/>
          <p:cNvSpPr txBox="1"/>
          <p:nvPr/>
        </p:nvSpPr>
        <p:spPr>
          <a:xfrm>
            <a:off x="2009775" y="4705350"/>
            <a:ext cx="2530316"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Noto Sans JP"/>
                <a:ea typeface="Noto Sans JP"/>
                <a:cs typeface="Noto Sans JP"/>
                <a:sym typeface="Noto Sans JP"/>
              </a:rPr>
              <a:t>特定運送委託の追加</a:t>
            </a:r>
            <a:endParaRPr/>
          </a:p>
        </p:txBody>
      </p:sp>
      <p:sp>
        <p:nvSpPr>
          <p:cNvPr id="156" name="Google Shape;156;p17"/>
          <p:cNvSpPr txBox="1"/>
          <p:nvPr/>
        </p:nvSpPr>
        <p:spPr>
          <a:xfrm>
            <a:off x="476250" y="5400675"/>
            <a:ext cx="54768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物品の製造・販売・修理に伴う</a:t>
            </a:r>
            <a:r>
              <a:rPr b="1" i="0" lang="en-US" sz="1500" u="none" cap="none" strike="noStrike">
                <a:solidFill>
                  <a:srgbClr val="333333"/>
                </a:solidFill>
                <a:latin typeface="Noto Sans JP"/>
                <a:ea typeface="Noto Sans JP"/>
                <a:cs typeface="Noto Sans JP"/>
                <a:sym typeface="Noto Sans JP"/>
              </a:rPr>
              <a:t>「運送」</a:t>
            </a:r>
            <a:r>
              <a:rPr b="0" i="0" lang="en-US" sz="1500" u="none" cap="none" strike="noStrike">
                <a:solidFill>
                  <a:srgbClr val="333333"/>
                </a:solidFill>
                <a:latin typeface="Noto Sans JP"/>
                <a:ea typeface="Noto Sans JP"/>
                <a:cs typeface="Noto Sans JP"/>
                <a:sym typeface="Noto Sans JP"/>
              </a:rPr>
              <a:t>を第三者に委託する場合も対象となります。物流のアウトソーシングも法の規制下に入ります。</a:t>
            </a:r>
            <a:endParaRPr/>
          </a:p>
        </p:txBody>
      </p:sp>
      <p:sp>
        <p:nvSpPr>
          <p:cNvPr id="157" name="Google Shape;157;p17"/>
          <p:cNvSpPr txBox="1"/>
          <p:nvPr/>
        </p:nvSpPr>
        <p:spPr>
          <a:xfrm>
            <a:off x="7500937" y="4705350"/>
            <a:ext cx="3100387"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Noto Sans JP"/>
                <a:ea typeface="Noto Sans JP"/>
                <a:cs typeface="Noto Sans JP"/>
                <a:sym typeface="Noto Sans JP"/>
              </a:rPr>
              <a:t>金型以外の「型」の追加</a:t>
            </a:r>
            <a:endParaRPr/>
          </a:p>
        </p:txBody>
      </p:sp>
      <p:sp>
        <p:nvSpPr>
          <p:cNvPr id="158" name="Google Shape;158;p17"/>
          <p:cNvSpPr txBox="1"/>
          <p:nvPr/>
        </p:nvSpPr>
        <p:spPr>
          <a:xfrm>
            <a:off x="6238875" y="5400675"/>
            <a:ext cx="54768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製造委託の対象として、金型だけでなく、</a:t>
            </a:r>
            <a:r>
              <a:rPr b="1" i="0" lang="en-US" sz="1500" u="none" cap="none" strike="noStrike">
                <a:solidFill>
                  <a:srgbClr val="333333"/>
                </a:solidFill>
                <a:latin typeface="Noto Sans JP"/>
                <a:ea typeface="Noto Sans JP"/>
                <a:cs typeface="Noto Sans JP"/>
                <a:sym typeface="Noto Sans JP"/>
              </a:rPr>
              <a:t>木型、治具（ジグ）</a:t>
            </a:r>
            <a:r>
              <a:rPr b="0" i="0" lang="en-US" sz="1500" u="none" cap="none" strike="noStrike">
                <a:solidFill>
                  <a:srgbClr val="333333"/>
                </a:solidFill>
                <a:latin typeface="Noto Sans JP"/>
                <a:ea typeface="Noto Sans JP"/>
                <a:cs typeface="Noto Sans JP"/>
                <a:sym typeface="Noto Sans JP"/>
              </a:rPr>
              <a:t>など、専ら製造に用いる物品の委託も明確に対象となりました。</a:t>
            </a:r>
            <a:endParaRPr/>
          </a:p>
        </p:txBody>
      </p:sp>
      <p:pic>
        <p:nvPicPr>
          <p:cNvPr descr="image.png" id="159" name="Google Shape;159;p17"/>
          <p:cNvPicPr preferRelativeResize="0"/>
          <p:nvPr/>
        </p:nvPicPr>
        <p:blipFill rotWithShape="1">
          <a:blip r:embed="rId4">
            <a:alphaModFix/>
          </a:blip>
          <a:srcRect b="0" l="0" r="0" t="0"/>
          <a:stretch/>
        </p:blipFill>
        <p:spPr>
          <a:xfrm>
            <a:off x="476250" y="1704975"/>
            <a:ext cx="5476875" cy="2857500"/>
          </a:xfrm>
          <a:prstGeom prst="rect">
            <a:avLst/>
          </a:prstGeom>
          <a:noFill/>
          <a:ln>
            <a:noFill/>
          </a:ln>
        </p:spPr>
      </p:pic>
      <p:pic>
        <p:nvPicPr>
          <p:cNvPr descr="image.png" id="160" name="Google Shape;160;p17"/>
          <p:cNvPicPr preferRelativeResize="0"/>
          <p:nvPr/>
        </p:nvPicPr>
        <p:blipFill rotWithShape="1">
          <a:blip r:embed="rId5">
            <a:alphaModFix/>
          </a:blip>
          <a:srcRect b="0" l="0" r="0" t="0"/>
          <a:stretch/>
        </p:blipFill>
        <p:spPr>
          <a:xfrm>
            <a:off x="6238875" y="1704975"/>
            <a:ext cx="5476875" cy="2857500"/>
          </a:xfrm>
          <a:prstGeom prst="rect">
            <a:avLst/>
          </a:prstGeom>
          <a:noFill/>
          <a:ln>
            <a:noFill/>
          </a:ln>
        </p:spPr>
      </p:pic>
      <p:sp>
        <p:nvSpPr>
          <p:cNvPr id="161" name="Google Shape;161;p17"/>
          <p:cNvSpPr txBox="1"/>
          <p:nvPr/>
        </p:nvSpPr>
        <p:spPr>
          <a:xfrm>
            <a:off x="476250" y="352425"/>
            <a:ext cx="11715750" cy="638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Noto Sans JP"/>
                <a:ea typeface="Noto Sans JP"/>
                <a:cs typeface="Noto Sans JP"/>
                <a:sym typeface="Noto Sans JP"/>
              </a:rPr>
              <a:t>適用対象の拡大②：取引内容の追加</a:t>
            </a:r>
            <a:endParaRPr/>
          </a:p>
        </p:txBody>
      </p:sp>
      <p:sp>
        <p:nvSpPr>
          <p:cNvPr id="162" name="Google Shape;162;p17"/>
          <p:cNvSpPr/>
          <p:nvPr/>
        </p:nvSpPr>
        <p:spPr>
          <a:xfrm>
            <a:off x="476250" y="1104900"/>
            <a:ext cx="112395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66" name="Shape 166"/>
        <p:cNvGrpSpPr/>
        <p:nvPr/>
      </p:nvGrpSpPr>
      <p:grpSpPr>
        <a:xfrm>
          <a:off x="0" y="0"/>
          <a:ext cx="0" cy="0"/>
          <a:chOff x="0" y="0"/>
          <a:chExt cx="0" cy="0"/>
        </a:xfrm>
      </p:grpSpPr>
      <p:pic>
        <p:nvPicPr>
          <p:cNvPr descr="image.png" id="167" name="Google Shape;167;p18"/>
          <p:cNvPicPr preferRelativeResize="0"/>
          <p:nvPr/>
        </p:nvPicPr>
        <p:blipFill rotWithShape="1">
          <a:blip r:embed="rId3">
            <a:alphaModFix/>
          </a:blip>
          <a:srcRect b="0" l="0" r="0" t="0"/>
          <a:stretch/>
        </p:blipFill>
        <p:spPr>
          <a:xfrm>
            <a:off x="7372350" y="2200275"/>
            <a:ext cx="4343400" cy="3810000"/>
          </a:xfrm>
          <a:prstGeom prst="rect">
            <a:avLst/>
          </a:prstGeom>
          <a:noFill/>
          <a:ln>
            <a:noFill/>
          </a:ln>
        </p:spPr>
      </p:pic>
      <p:pic>
        <p:nvPicPr>
          <p:cNvPr descr="image.png" id="168" name="Google Shape;168;p18"/>
          <p:cNvPicPr preferRelativeResize="0"/>
          <p:nvPr/>
        </p:nvPicPr>
        <p:blipFill rotWithShape="1">
          <a:blip r:embed="rId4">
            <a:alphaModFix/>
          </a:blip>
          <a:srcRect b="0" l="0" r="0" t="0"/>
          <a:stretch/>
        </p:blipFill>
        <p:spPr>
          <a:xfrm>
            <a:off x="7372350" y="2200275"/>
            <a:ext cx="4343400" cy="3810000"/>
          </a:xfrm>
          <a:prstGeom prst="rect">
            <a:avLst/>
          </a:prstGeom>
          <a:noFill/>
          <a:ln>
            <a:noFill/>
          </a:ln>
        </p:spPr>
      </p:pic>
      <p:sp>
        <p:nvSpPr>
          <p:cNvPr id="169" name="Google Shape;169;p18"/>
          <p:cNvSpPr txBox="1"/>
          <p:nvPr/>
        </p:nvSpPr>
        <p:spPr>
          <a:xfrm>
            <a:off x="666750" y="2743200"/>
            <a:ext cx="6324600" cy="609600"/>
          </a:xfrm>
          <a:prstGeom prst="rect">
            <a:avLst/>
          </a:prstGeom>
          <a:noFill/>
          <a:ln>
            <a:noFill/>
          </a:ln>
        </p:spPr>
        <p:txBody>
          <a:bodyPr anchorCtr="0" anchor="t" bIns="0" lIns="148225" spcFirstLastPara="1" rIns="0" wrap="square" tIns="0">
            <a:spAutoFit/>
          </a:bodyPr>
          <a:lstStyle/>
          <a:p>
            <a:pPr indent="0" lvl="0" marL="0" marR="0" rtl="0" algn="l">
              <a:lnSpc>
                <a:spcPct val="133333"/>
              </a:lnSpc>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手形払いの原則禁止</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333333"/>
                </a:solidFill>
                <a:latin typeface="Noto Sans JP"/>
                <a:ea typeface="Noto Sans JP"/>
                <a:cs typeface="Noto Sans JP"/>
                <a:sym typeface="Noto Sans JP"/>
              </a:rPr>
              <a:t> 支払期日までに現金化が困難な手形等の交付が禁止されます。</a:t>
            </a:r>
            <a:endParaRPr/>
          </a:p>
        </p:txBody>
      </p:sp>
      <p:sp>
        <p:nvSpPr>
          <p:cNvPr id="170" name="Google Shape;170;p18"/>
          <p:cNvSpPr txBox="1"/>
          <p:nvPr/>
        </p:nvSpPr>
        <p:spPr>
          <a:xfrm>
            <a:off x="666750" y="3448050"/>
            <a:ext cx="6324600" cy="914400"/>
          </a:xfrm>
          <a:prstGeom prst="rect">
            <a:avLst/>
          </a:prstGeom>
          <a:noFill/>
          <a:ln>
            <a:noFill/>
          </a:ln>
        </p:spPr>
        <p:txBody>
          <a:bodyPr anchorCtr="0" anchor="t" bIns="0" lIns="148225" spcFirstLastPara="1" rIns="0" wrap="square" tIns="0">
            <a:spAutoFit/>
          </a:bodyPr>
          <a:lstStyle/>
          <a:p>
            <a:pPr indent="0" lvl="0" marL="0" marR="0" rtl="0" algn="l">
              <a:lnSpc>
                <a:spcPct val="133333"/>
              </a:lnSpc>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60日以内の支払ルール</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333333"/>
                </a:solidFill>
                <a:latin typeface="Noto Sans JP"/>
                <a:ea typeface="Noto Sans JP"/>
                <a:cs typeface="Noto Sans JP"/>
                <a:sym typeface="Noto Sans JP"/>
              </a:rPr>
              <a:t> 受領日から60日以内のできる限り短い期間内での支払いが義務付けられています。</a:t>
            </a:r>
            <a:endParaRPr/>
          </a:p>
        </p:txBody>
      </p:sp>
      <p:sp>
        <p:nvSpPr>
          <p:cNvPr id="171" name="Google Shape;171;p18"/>
          <p:cNvSpPr txBox="1"/>
          <p:nvPr/>
        </p:nvSpPr>
        <p:spPr>
          <a:xfrm>
            <a:off x="666750" y="4457700"/>
            <a:ext cx="6324600" cy="914400"/>
          </a:xfrm>
          <a:prstGeom prst="rect">
            <a:avLst/>
          </a:prstGeom>
          <a:noFill/>
          <a:ln>
            <a:noFill/>
          </a:ln>
        </p:spPr>
        <p:txBody>
          <a:bodyPr anchorCtr="0" anchor="t" bIns="0" lIns="148225" spcFirstLastPara="1" rIns="0" wrap="square" tIns="0">
            <a:spAutoFit/>
          </a:bodyPr>
          <a:lstStyle/>
          <a:p>
            <a:pPr indent="0" lvl="0" marL="0" marR="0" rtl="0" algn="l">
              <a:lnSpc>
                <a:spcPct val="133333"/>
              </a:lnSpc>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一括決済方式等の制限</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333333"/>
                </a:solidFill>
                <a:latin typeface="Noto Sans JP"/>
                <a:ea typeface="Noto Sans JP"/>
                <a:cs typeface="Noto Sans JP"/>
                <a:sym typeface="Noto Sans JP"/>
              </a:rPr>
              <a:t> ファクタリング等を利用する場合も、支払期日までに代金相当額を得られないものは禁止されます。</a:t>
            </a:r>
            <a:endParaRPr/>
          </a:p>
        </p:txBody>
      </p:sp>
      <p:pic>
        <p:nvPicPr>
          <p:cNvPr descr="image.png" id="172" name="Google Shape;172;p18"/>
          <p:cNvPicPr preferRelativeResize="0"/>
          <p:nvPr/>
        </p:nvPicPr>
        <p:blipFill rotWithShape="1">
          <a:blip r:embed="rId5">
            <a:alphaModFix/>
          </a:blip>
          <a:srcRect b="0" l="0" r="0" t="0"/>
          <a:stretch/>
        </p:blipFill>
        <p:spPr>
          <a:xfrm>
            <a:off x="666750" y="2786062"/>
            <a:ext cx="148232" cy="219075"/>
          </a:xfrm>
          <a:prstGeom prst="rect">
            <a:avLst/>
          </a:prstGeom>
          <a:noFill/>
          <a:ln>
            <a:noFill/>
          </a:ln>
        </p:spPr>
      </p:pic>
      <p:pic>
        <p:nvPicPr>
          <p:cNvPr descr="image.png" id="173" name="Google Shape;173;p18"/>
          <p:cNvPicPr preferRelativeResize="0"/>
          <p:nvPr/>
        </p:nvPicPr>
        <p:blipFill rotWithShape="1">
          <a:blip r:embed="rId6">
            <a:alphaModFix/>
          </a:blip>
          <a:srcRect b="0" l="0" r="0" t="0"/>
          <a:stretch/>
        </p:blipFill>
        <p:spPr>
          <a:xfrm>
            <a:off x="666750" y="3490912"/>
            <a:ext cx="148232" cy="219075"/>
          </a:xfrm>
          <a:prstGeom prst="rect">
            <a:avLst/>
          </a:prstGeom>
          <a:noFill/>
          <a:ln>
            <a:noFill/>
          </a:ln>
        </p:spPr>
      </p:pic>
      <p:pic>
        <p:nvPicPr>
          <p:cNvPr descr="image.png" id="174" name="Google Shape;174;p18"/>
          <p:cNvPicPr preferRelativeResize="0"/>
          <p:nvPr/>
        </p:nvPicPr>
        <p:blipFill rotWithShape="1">
          <a:blip r:embed="rId7">
            <a:alphaModFix/>
          </a:blip>
          <a:srcRect b="0" l="0" r="0" t="0"/>
          <a:stretch/>
        </p:blipFill>
        <p:spPr>
          <a:xfrm>
            <a:off x="666750" y="4500562"/>
            <a:ext cx="148232" cy="219075"/>
          </a:xfrm>
          <a:prstGeom prst="rect">
            <a:avLst/>
          </a:prstGeom>
          <a:noFill/>
          <a:ln>
            <a:noFill/>
          </a:ln>
        </p:spPr>
      </p:pic>
      <p:sp>
        <p:nvSpPr>
          <p:cNvPr id="175" name="Google Shape;175;p18"/>
          <p:cNvSpPr txBox="1"/>
          <p:nvPr/>
        </p:nvSpPr>
        <p:spPr>
          <a:xfrm>
            <a:off x="476250" y="476250"/>
            <a:ext cx="11715750" cy="638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Noto Sans JP"/>
                <a:ea typeface="Noto Sans JP"/>
                <a:cs typeface="Noto Sans JP"/>
                <a:sym typeface="Noto Sans JP"/>
              </a:rPr>
              <a:t>【重要】禁止行為の追加：支払方法</a:t>
            </a:r>
            <a:endParaRPr/>
          </a:p>
        </p:txBody>
      </p:sp>
      <p:sp>
        <p:nvSpPr>
          <p:cNvPr id="176" name="Google Shape;176;p18"/>
          <p:cNvSpPr/>
          <p:nvPr/>
        </p:nvSpPr>
        <p:spPr>
          <a:xfrm>
            <a:off x="476250" y="1228725"/>
            <a:ext cx="112395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80" name="Shape 180"/>
        <p:cNvGrpSpPr/>
        <p:nvPr/>
      </p:nvGrpSpPr>
      <p:grpSpPr>
        <a:xfrm>
          <a:off x="0" y="0"/>
          <a:ext cx="0" cy="0"/>
          <a:chOff x="0" y="0"/>
          <a:chExt cx="0" cy="0"/>
        </a:xfrm>
      </p:grpSpPr>
      <p:pic>
        <p:nvPicPr>
          <p:cNvPr descr="image.png" id="181" name="Google Shape;181;p19"/>
          <p:cNvPicPr preferRelativeResize="0"/>
          <p:nvPr/>
        </p:nvPicPr>
        <p:blipFill rotWithShape="1">
          <a:blip r:embed="rId3">
            <a:alphaModFix/>
          </a:blip>
          <a:srcRect b="0" l="0" r="0" t="0"/>
          <a:stretch/>
        </p:blipFill>
        <p:spPr>
          <a:xfrm>
            <a:off x="7372350" y="2200275"/>
            <a:ext cx="4343400" cy="3810000"/>
          </a:xfrm>
          <a:prstGeom prst="rect">
            <a:avLst/>
          </a:prstGeom>
          <a:noFill/>
          <a:ln>
            <a:noFill/>
          </a:ln>
        </p:spPr>
      </p:pic>
      <p:sp>
        <p:nvSpPr>
          <p:cNvPr id="182" name="Google Shape;182;p19"/>
          <p:cNvSpPr txBox="1"/>
          <p:nvPr/>
        </p:nvSpPr>
        <p:spPr>
          <a:xfrm>
            <a:off x="476250" y="2709862"/>
            <a:ext cx="6840855"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Noto Sans JP"/>
                <a:ea typeface="Noto Sans JP"/>
                <a:cs typeface="Noto Sans JP"/>
                <a:sym typeface="Noto Sans JP"/>
              </a:rPr>
              <a:t>一方的な価格決定の禁止</a:t>
            </a:r>
            <a:endParaRPr/>
          </a:p>
        </p:txBody>
      </p:sp>
      <p:sp>
        <p:nvSpPr>
          <p:cNvPr id="183" name="Google Shape;183;p19"/>
          <p:cNvSpPr txBox="1"/>
          <p:nvPr/>
        </p:nvSpPr>
        <p:spPr>
          <a:xfrm>
            <a:off x="476250" y="3262312"/>
            <a:ext cx="65151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以下の行為が新たに明確に禁止されました。</a:t>
            </a:r>
            <a:endParaRPr/>
          </a:p>
        </p:txBody>
      </p:sp>
      <p:sp>
        <p:nvSpPr>
          <p:cNvPr id="184" name="Google Shape;184;p19"/>
          <p:cNvSpPr txBox="1"/>
          <p:nvPr/>
        </p:nvSpPr>
        <p:spPr>
          <a:xfrm>
            <a:off x="476250" y="5005387"/>
            <a:ext cx="65151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対策：価格交渉の議事録を残すことが重要です。</a:t>
            </a:r>
            <a:endParaRPr/>
          </a:p>
        </p:txBody>
      </p:sp>
      <p:pic>
        <p:nvPicPr>
          <p:cNvPr descr="image.png" id="185" name="Google Shape;185;p19"/>
          <p:cNvPicPr preferRelativeResize="0"/>
          <p:nvPr/>
        </p:nvPicPr>
        <p:blipFill rotWithShape="1">
          <a:blip r:embed="rId4">
            <a:alphaModFix/>
          </a:blip>
          <a:srcRect b="0" l="0" r="0" t="0"/>
          <a:stretch/>
        </p:blipFill>
        <p:spPr>
          <a:xfrm>
            <a:off x="7372350" y="2200275"/>
            <a:ext cx="4343400" cy="3810000"/>
          </a:xfrm>
          <a:prstGeom prst="rect">
            <a:avLst/>
          </a:prstGeom>
          <a:noFill/>
          <a:ln>
            <a:noFill/>
          </a:ln>
        </p:spPr>
      </p:pic>
      <p:sp>
        <p:nvSpPr>
          <p:cNvPr id="186" name="Google Shape;186;p19"/>
          <p:cNvSpPr txBox="1"/>
          <p:nvPr/>
        </p:nvSpPr>
        <p:spPr>
          <a:xfrm>
            <a:off x="600075" y="3757612"/>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a:t>
            </a:r>
            <a:endParaRPr/>
          </a:p>
        </p:txBody>
      </p:sp>
      <p:sp>
        <p:nvSpPr>
          <p:cNvPr id="187" name="Google Shape;187;p19"/>
          <p:cNvSpPr txBox="1"/>
          <p:nvPr/>
        </p:nvSpPr>
        <p:spPr>
          <a:xfrm>
            <a:off x="666750" y="3757612"/>
            <a:ext cx="6324600" cy="3048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協議拒否：</a:t>
            </a:r>
            <a:r>
              <a:rPr b="0" i="0" lang="en-US" sz="1500" u="none" cap="none" strike="noStrike">
                <a:solidFill>
                  <a:srgbClr val="333333"/>
                </a:solidFill>
                <a:latin typeface="Noto Sans JP"/>
                <a:ea typeface="Noto Sans JP"/>
                <a:cs typeface="Noto Sans JP"/>
                <a:sym typeface="Noto Sans JP"/>
              </a:rPr>
              <a:t> 受託事業者からの協議の申し入れに応じないこと。</a:t>
            </a:r>
            <a:endParaRPr/>
          </a:p>
        </p:txBody>
      </p:sp>
      <p:sp>
        <p:nvSpPr>
          <p:cNvPr id="188" name="Google Shape;188;p19"/>
          <p:cNvSpPr txBox="1"/>
          <p:nvPr/>
        </p:nvSpPr>
        <p:spPr>
          <a:xfrm>
            <a:off x="600075" y="4157662"/>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a:t>
            </a:r>
            <a:endParaRPr/>
          </a:p>
        </p:txBody>
      </p:sp>
      <p:sp>
        <p:nvSpPr>
          <p:cNvPr id="189" name="Google Shape;189;p19"/>
          <p:cNvSpPr txBox="1"/>
          <p:nvPr/>
        </p:nvSpPr>
        <p:spPr>
          <a:xfrm>
            <a:off x="666750" y="4157662"/>
            <a:ext cx="6324600" cy="3048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説明不足：</a:t>
            </a:r>
            <a:r>
              <a:rPr b="0" i="0" lang="en-US" sz="1500" u="none" cap="none" strike="noStrike">
                <a:solidFill>
                  <a:srgbClr val="333333"/>
                </a:solidFill>
                <a:latin typeface="Noto Sans JP"/>
                <a:ea typeface="Noto Sans JP"/>
                <a:cs typeface="Noto Sans JP"/>
                <a:sym typeface="Noto Sans JP"/>
              </a:rPr>
              <a:t> 協議において必要な情報提供や説明を行わないこと。</a:t>
            </a:r>
            <a:endParaRPr/>
          </a:p>
        </p:txBody>
      </p:sp>
      <p:sp>
        <p:nvSpPr>
          <p:cNvPr id="190" name="Google Shape;190;p19"/>
          <p:cNvSpPr txBox="1"/>
          <p:nvPr/>
        </p:nvSpPr>
        <p:spPr>
          <a:xfrm>
            <a:off x="600075" y="4557712"/>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a:t>
            </a:r>
            <a:endParaRPr/>
          </a:p>
        </p:txBody>
      </p:sp>
      <p:sp>
        <p:nvSpPr>
          <p:cNvPr id="191" name="Google Shape;191;p19"/>
          <p:cNvSpPr txBox="1"/>
          <p:nvPr/>
        </p:nvSpPr>
        <p:spPr>
          <a:xfrm>
            <a:off x="666750" y="4557712"/>
            <a:ext cx="6324600" cy="3048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一方的決定：</a:t>
            </a:r>
            <a:r>
              <a:rPr b="0" i="0" lang="en-US" sz="1500" u="none" cap="none" strike="noStrike">
                <a:solidFill>
                  <a:srgbClr val="333333"/>
                </a:solidFill>
                <a:latin typeface="Noto Sans JP"/>
                <a:ea typeface="Noto Sans JP"/>
                <a:cs typeface="Noto Sans JP"/>
                <a:sym typeface="Noto Sans JP"/>
              </a:rPr>
              <a:t> 上記を経ずに代金を決定すること。</a:t>
            </a:r>
            <a:endParaRPr/>
          </a:p>
        </p:txBody>
      </p:sp>
      <p:sp>
        <p:nvSpPr>
          <p:cNvPr id="192" name="Google Shape;192;p19"/>
          <p:cNvSpPr txBox="1"/>
          <p:nvPr/>
        </p:nvSpPr>
        <p:spPr>
          <a:xfrm>
            <a:off x="476250" y="476250"/>
            <a:ext cx="11715750" cy="638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Noto Sans JP"/>
                <a:ea typeface="Noto Sans JP"/>
                <a:cs typeface="Noto Sans JP"/>
                <a:sym typeface="Noto Sans JP"/>
              </a:rPr>
              <a:t>【重要】禁止行為の追加：価格交渉</a:t>
            </a:r>
            <a:endParaRPr/>
          </a:p>
        </p:txBody>
      </p:sp>
      <p:sp>
        <p:nvSpPr>
          <p:cNvPr id="193" name="Google Shape;193;p19"/>
          <p:cNvSpPr/>
          <p:nvPr/>
        </p:nvSpPr>
        <p:spPr>
          <a:xfrm>
            <a:off x="476250" y="1228725"/>
            <a:ext cx="112395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97" name="Shape 197"/>
        <p:cNvGrpSpPr/>
        <p:nvPr/>
      </p:nvGrpSpPr>
      <p:grpSpPr>
        <a:xfrm>
          <a:off x="0" y="0"/>
          <a:ext cx="0" cy="0"/>
          <a:chOff x="0" y="0"/>
          <a:chExt cx="0" cy="0"/>
        </a:xfrm>
      </p:grpSpPr>
      <p:pic>
        <p:nvPicPr>
          <p:cNvPr descr="image.png" id="198" name="Google Shape;198;p20"/>
          <p:cNvPicPr preferRelativeResize="0"/>
          <p:nvPr/>
        </p:nvPicPr>
        <p:blipFill rotWithShape="1">
          <a:blip r:embed="rId3">
            <a:alphaModFix/>
          </a:blip>
          <a:srcRect b="0" l="0" r="0" t="0"/>
          <a:stretch/>
        </p:blipFill>
        <p:spPr>
          <a:xfrm>
            <a:off x="476250" y="2409825"/>
            <a:ext cx="3555950" cy="3390900"/>
          </a:xfrm>
          <a:prstGeom prst="rect">
            <a:avLst/>
          </a:prstGeom>
          <a:noFill/>
          <a:ln>
            <a:noFill/>
          </a:ln>
        </p:spPr>
      </p:pic>
      <p:pic>
        <p:nvPicPr>
          <p:cNvPr descr="image.png" id="199" name="Google Shape;199;p20"/>
          <p:cNvPicPr preferRelativeResize="0"/>
          <p:nvPr/>
        </p:nvPicPr>
        <p:blipFill rotWithShape="1">
          <a:blip r:embed="rId4">
            <a:alphaModFix/>
          </a:blip>
          <a:srcRect b="0" l="0" r="0" t="0"/>
          <a:stretch/>
        </p:blipFill>
        <p:spPr>
          <a:xfrm>
            <a:off x="4317950" y="2409825"/>
            <a:ext cx="3555950" cy="3390900"/>
          </a:xfrm>
          <a:prstGeom prst="rect">
            <a:avLst/>
          </a:prstGeom>
          <a:noFill/>
          <a:ln>
            <a:noFill/>
          </a:ln>
        </p:spPr>
      </p:pic>
      <p:pic>
        <p:nvPicPr>
          <p:cNvPr descr="image.png" id="200" name="Google Shape;200;p20"/>
          <p:cNvPicPr preferRelativeResize="0"/>
          <p:nvPr/>
        </p:nvPicPr>
        <p:blipFill rotWithShape="1">
          <a:blip r:embed="rId5">
            <a:alphaModFix/>
          </a:blip>
          <a:srcRect b="0" l="0" r="0" t="0"/>
          <a:stretch/>
        </p:blipFill>
        <p:spPr>
          <a:xfrm>
            <a:off x="8159650" y="2409825"/>
            <a:ext cx="3555950" cy="3390900"/>
          </a:xfrm>
          <a:prstGeom prst="rect">
            <a:avLst/>
          </a:prstGeom>
          <a:noFill/>
          <a:ln>
            <a:noFill/>
          </a:ln>
        </p:spPr>
      </p:pic>
      <p:sp>
        <p:nvSpPr>
          <p:cNvPr id="201" name="Google Shape;201;p20"/>
          <p:cNvSpPr txBox="1"/>
          <p:nvPr/>
        </p:nvSpPr>
        <p:spPr>
          <a:xfrm>
            <a:off x="838973" y="3409950"/>
            <a:ext cx="2830353" cy="361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005088"/>
                </a:solidFill>
                <a:latin typeface="Noto Sans JP"/>
                <a:ea typeface="Noto Sans JP"/>
                <a:cs typeface="Noto Sans JP"/>
                <a:sym typeface="Noto Sans JP"/>
              </a:rPr>
              <a:t>電磁的方法による交付</a:t>
            </a:r>
            <a:endParaRPr/>
          </a:p>
        </p:txBody>
      </p:sp>
      <p:sp>
        <p:nvSpPr>
          <p:cNvPr id="202" name="Google Shape;202;p20"/>
          <p:cNvSpPr txBox="1"/>
          <p:nvPr/>
        </p:nvSpPr>
        <p:spPr>
          <a:xfrm>
            <a:off x="762000" y="4105275"/>
            <a:ext cx="2984450"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発注書面等のメール・Web交付について、相手方の</a:t>
            </a:r>
            <a:r>
              <a:rPr b="1" i="0" lang="en-US" sz="1500" u="none" cap="none" strike="noStrike">
                <a:solidFill>
                  <a:srgbClr val="333333"/>
                </a:solidFill>
                <a:latin typeface="Noto Sans JP"/>
                <a:ea typeface="Noto Sans JP"/>
                <a:cs typeface="Noto Sans JP"/>
                <a:sym typeface="Noto Sans JP"/>
              </a:rPr>
              <a:t>承諾が不要</a:t>
            </a:r>
            <a:r>
              <a:rPr b="0" i="0" lang="en-US" sz="1500" u="none" cap="none" strike="noStrike">
                <a:solidFill>
                  <a:srgbClr val="333333"/>
                </a:solidFill>
                <a:latin typeface="Noto Sans JP"/>
                <a:ea typeface="Noto Sans JP"/>
                <a:cs typeface="Noto Sans JP"/>
                <a:sym typeface="Noto Sans JP"/>
              </a:rPr>
              <a:t>になりました。ただし、請求があれば書面交付が必要です。</a:t>
            </a:r>
            <a:endParaRPr/>
          </a:p>
        </p:txBody>
      </p:sp>
      <p:sp>
        <p:nvSpPr>
          <p:cNvPr id="203" name="Google Shape;203;p20"/>
          <p:cNvSpPr txBox="1"/>
          <p:nvPr/>
        </p:nvSpPr>
        <p:spPr>
          <a:xfrm>
            <a:off x="5110728" y="3409950"/>
            <a:ext cx="1970246" cy="361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005088"/>
                </a:solidFill>
                <a:latin typeface="Noto Sans JP"/>
                <a:ea typeface="Noto Sans JP"/>
                <a:cs typeface="Noto Sans JP"/>
                <a:sym typeface="Noto Sans JP"/>
              </a:rPr>
              <a:t>書類の保存義務</a:t>
            </a:r>
            <a:endParaRPr/>
          </a:p>
        </p:txBody>
      </p:sp>
      <p:sp>
        <p:nvSpPr>
          <p:cNvPr id="204" name="Google Shape;204;p20"/>
          <p:cNvSpPr txBox="1"/>
          <p:nvPr/>
        </p:nvSpPr>
        <p:spPr>
          <a:xfrm>
            <a:off x="4603700" y="4105275"/>
            <a:ext cx="2984450"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取引に関する記録（発注書、受領書、支払記録等）は、取引終了後</a:t>
            </a:r>
            <a:r>
              <a:rPr b="1" i="0" lang="en-US" sz="1500" u="none" cap="none" strike="noStrike">
                <a:solidFill>
                  <a:srgbClr val="333333"/>
                </a:solidFill>
                <a:latin typeface="Noto Sans JP"/>
                <a:ea typeface="Noto Sans JP"/>
                <a:cs typeface="Noto Sans JP"/>
                <a:sym typeface="Noto Sans JP"/>
              </a:rPr>
              <a:t>2年間</a:t>
            </a:r>
            <a:r>
              <a:rPr b="0" i="0" lang="en-US" sz="1500" u="none" cap="none" strike="noStrike">
                <a:solidFill>
                  <a:srgbClr val="333333"/>
                </a:solidFill>
                <a:latin typeface="Noto Sans JP"/>
                <a:ea typeface="Noto Sans JP"/>
                <a:cs typeface="Noto Sans JP"/>
                <a:sym typeface="Noto Sans JP"/>
              </a:rPr>
              <a:t>保存する義務があります。</a:t>
            </a:r>
            <a:endParaRPr/>
          </a:p>
        </p:txBody>
      </p:sp>
      <p:sp>
        <p:nvSpPr>
          <p:cNvPr id="205" name="Google Shape;205;p20"/>
          <p:cNvSpPr txBox="1"/>
          <p:nvPr/>
        </p:nvSpPr>
        <p:spPr>
          <a:xfrm>
            <a:off x="8952428" y="3409950"/>
            <a:ext cx="1970246" cy="361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005088"/>
                </a:solidFill>
                <a:latin typeface="Noto Sans JP"/>
                <a:ea typeface="Noto Sans JP"/>
                <a:cs typeface="Noto Sans JP"/>
                <a:sym typeface="Noto Sans JP"/>
              </a:rPr>
              <a:t>罰則と報復禁止</a:t>
            </a:r>
            <a:endParaRPr/>
          </a:p>
        </p:txBody>
      </p:sp>
      <p:sp>
        <p:nvSpPr>
          <p:cNvPr id="206" name="Google Shape;206;p20"/>
          <p:cNvSpPr txBox="1"/>
          <p:nvPr/>
        </p:nvSpPr>
        <p:spPr>
          <a:xfrm>
            <a:off x="8445400" y="4105275"/>
            <a:ext cx="2984450"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違反時の罰金は最高50万円。また、通報を行った事業者への</a:t>
            </a:r>
            <a:r>
              <a:rPr b="1" i="0" lang="en-US" sz="1500" u="none" cap="none" strike="noStrike">
                <a:solidFill>
                  <a:srgbClr val="333333"/>
                </a:solidFill>
                <a:latin typeface="Noto Sans JP"/>
                <a:ea typeface="Noto Sans JP"/>
                <a:cs typeface="Noto Sans JP"/>
                <a:sym typeface="Noto Sans JP"/>
              </a:rPr>
              <a:t>報復措置（取引停止等）は厳禁</a:t>
            </a:r>
            <a:r>
              <a:rPr b="0" i="0" lang="en-US" sz="1500" u="none" cap="none" strike="noStrike">
                <a:solidFill>
                  <a:srgbClr val="333333"/>
                </a:solidFill>
                <a:latin typeface="Noto Sans JP"/>
                <a:ea typeface="Noto Sans JP"/>
                <a:cs typeface="Noto Sans JP"/>
                <a:sym typeface="Noto Sans JP"/>
              </a:rPr>
              <a:t>です。</a:t>
            </a:r>
            <a:endParaRPr/>
          </a:p>
        </p:txBody>
      </p:sp>
      <p:pic>
        <p:nvPicPr>
          <p:cNvPr descr="image.png" id="207" name="Google Shape;207;p20"/>
          <p:cNvPicPr preferRelativeResize="0"/>
          <p:nvPr/>
        </p:nvPicPr>
        <p:blipFill rotWithShape="1">
          <a:blip r:embed="rId6">
            <a:alphaModFix/>
          </a:blip>
          <a:srcRect b="0" l="0" r="0" t="0"/>
          <a:stretch/>
        </p:blipFill>
        <p:spPr>
          <a:xfrm>
            <a:off x="2076301" y="2733675"/>
            <a:ext cx="355699" cy="457200"/>
          </a:xfrm>
          <a:prstGeom prst="rect">
            <a:avLst/>
          </a:prstGeom>
          <a:noFill/>
          <a:ln>
            <a:noFill/>
          </a:ln>
        </p:spPr>
      </p:pic>
      <p:pic>
        <p:nvPicPr>
          <p:cNvPr descr="image.png" id="208" name="Google Shape;208;p20"/>
          <p:cNvPicPr preferRelativeResize="0"/>
          <p:nvPr/>
        </p:nvPicPr>
        <p:blipFill rotWithShape="1">
          <a:blip r:embed="rId7">
            <a:alphaModFix/>
          </a:blip>
          <a:srcRect b="0" l="0" r="0" t="0"/>
          <a:stretch/>
        </p:blipFill>
        <p:spPr>
          <a:xfrm>
            <a:off x="5918001" y="2733675"/>
            <a:ext cx="355699" cy="457200"/>
          </a:xfrm>
          <a:prstGeom prst="rect">
            <a:avLst/>
          </a:prstGeom>
          <a:noFill/>
          <a:ln>
            <a:noFill/>
          </a:ln>
        </p:spPr>
      </p:pic>
      <p:pic>
        <p:nvPicPr>
          <p:cNvPr descr="image.png" id="209" name="Google Shape;209;p20"/>
          <p:cNvPicPr preferRelativeResize="0"/>
          <p:nvPr/>
        </p:nvPicPr>
        <p:blipFill rotWithShape="1">
          <a:blip r:embed="rId8">
            <a:alphaModFix/>
          </a:blip>
          <a:srcRect b="0" l="0" r="0" t="0"/>
          <a:stretch/>
        </p:blipFill>
        <p:spPr>
          <a:xfrm>
            <a:off x="9759701" y="2733675"/>
            <a:ext cx="355699" cy="457200"/>
          </a:xfrm>
          <a:prstGeom prst="rect">
            <a:avLst/>
          </a:prstGeom>
          <a:noFill/>
          <a:ln>
            <a:noFill/>
          </a:ln>
        </p:spPr>
      </p:pic>
      <p:sp>
        <p:nvSpPr>
          <p:cNvPr id="210" name="Google Shape;210;p20"/>
          <p:cNvSpPr txBox="1"/>
          <p:nvPr/>
        </p:nvSpPr>
        <p:spPr>
          <a:xfrm>
            <a:off x="476250" y="476250"/>
            <a:ext cx="11715750" cy="638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Noto Sans JP"/>
                <a:ea typeface="Noto Sans JP"/>
                <a:cs typeface="Noto Sans JP"/>
                <a:sym typeface="Noto Sans JP"/>
              </a:rPr>
              <a:t>実務運用と違反時の対応</a:t>
            </a:r>
            <a:endParaRPr/>
          </a:p>
        </p:txBody>
      </p:sp>
      <p:sp>
        <p:nvSpPr>
          <p:cNvPr id="211" name="Google Shape;211;p20"/>
          <p:cNvSpPr/>
          <p:nvPr/>
        </p:nvSpPr>
        <p:spPr>
          <a:xfrm>
            <a:off x="476250" y="1228725"/>
            <a:ext cx="112395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215" name="Shape 215"/>
        <p:cNvGrpSpPr/>
        <p:nvPr/>
      </p:nvGrpSpPr>
      <p:grpSpPr>
        <a:xfrm>
          <a:off x="0" y="0"/>
          <a:ext cx="0" cy="0"/>
          <a:chOff x="0" y="0"/>
          <a:chExt cx="0" cy="0"/>
        </a:xfrm>
      </p:grpSpPr>
      <p:sp>
        <p:nvSpPr>
          <p:cNvPr id="216" name="Google Shape;216;p21"/>
          <p:cNvSpPr txBox="1"/>
          <p:nvPr/>
        </p:nvSpPr>
        <p:spPr>
          <a:xfrm>
            <a:off x="476250" y="2652712"/>
            <a:ext cx="5700712" cy="361950"/>
          </a:xfrm>
          <a:prstGeom prst="rect">
            <a:avLst/>
          </a:prstGeom>
          <a:noFill/>
          <a:ln>
            <a:noFill/>
          </a:ln>
        </p:spPr>
        <p:txBody>
          <a:bodyPr anchorCtr="0" anchor="t" bIns="0" lIns="20745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Noto Sans JP"/>
                <a:ea typeface="Noto Sans JP"/>
                <a:cs typeface="Noto Sans JP"/>
                <a:sym typeface="Noto Sans JP"/>
              </a:rPr>
              <a:t>義務（4項目）</a:t>
            </a:r>
            <a:endParaRPr/>
          </a:p>
        </p:txBody>
      </p:sp>
      <p:sp>
        <p:nvSpPr>
          <p:cNvPr id="217" name="Google Shape;217;p21"/>
          <p:cNvSpPr txBox="1"/>
          <p:nvPr/>
        </p:nvSpPr>
        <p:spPr>
          <a:xfrm>
            <a:off x="6286500" y="2652712"/>
            <a:ext cx="5700712" cy="361950"/>
          </a:xfrm>
          <a:prstGeom prst="rect">
            <a:avLst/>
          </a:prstGeom>
          <a:noFill/>
          <a:ln>
            <a:noFill/>
          </a:ln>
        </p:spPr>
        <p:txBody>
          <a:bodyPr anchorCtr="0" anchor="t" bIns="0" lIns="20745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Noto Sans JP"/>
                <a:ea typeface="Noto Sans JP"/>
                <a:cs typeface="Noto Sans JP"/>
                <a:sym typeface="Noto Sans JP"/>
              </a:rPr>
              <a:t>禁止事項（主なもの）</a:t>
            </a:r>
            <a:endParaRPr/>
          </a:p>
        </p:txBody>
      </p:sp>
      <p:pic>
        <p:nvPicPr>
          <p:cNvPr descr="image.png" id="218" name="Google Shape;218;p21"/>
          <p:cNvPicPr preferRelativeResize="0"/>
          <p:nvPr/>
        </p:nvPicPr>
        <p:blipFill rotWithShape="1">
          <a:blip r:embed="rId3">
            <a:alphaModFix/>
          </a:blip>
          <a:srcRect b="0" l="0" r="0" t="0"/>
          <a:stretch/>
        </p:blipFill>
        <p:spPr>
          <a:xfrm>
            <a:off x="476250" y="2700337"/>
            <a:ext cx="207466" cy="266700"/>
          </a:xfrm>
          <a:prstGeom prst="rect">
            <a:avLst/>
          </a:prstGeom>
          <a:noFill/>
          <a:ln>
            <a:noFill/>
          </a:ln>
        </p:spPr>
      </p:pic>
      <p:sp>
        <p:nvSpPr>
          <p:cNvPr id="219" name="Google Shape;219;p21"/>
          <p:cNvSpPr txBox="1"/>
          <p:nvPr/>
        </p:nvSpPr>
        <p:spPr>
          <a:xfrm>
            <a:off x="666750" y="3157537"/>
            <a:ext cx="52387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 発注内容の書面/メール明示</a:t>
            </a:r>
            <a:endParaRPr/>
          </a:p>
        </p:txBody>
      </p:sp>
      <p:sp>
        <p:nvSpPr>
          <p:cNvPr id="220" name="Google Shape;220;p21"/>
          <p:cNvSpPr txBox="1"/>
          <p:nvPr/>
        </p:nvSpPr>
        <p:spPr>
          <a:xfrm>
            <a:off x="666750" y="3557587"/>
            <a:ext cx="52387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 書類の作成・保存（2年間）</a:t>
            </a:r>
            <a:endParaRPr/>
          </a:p>
        </p:txBody>
      </p:sp>
      <p:sp>
        <p:nvSpPr>
          <p:cNvPr id="221" name="Google Shape;221;p21"/>
          <p:cNvSpPr txBox="1"/>
          <p:nvPr/>
        </p:nvSpPr>
        <p:spPr>
          <a:xfrm>
            <a:off x="666750" y="3957637"/>
            <a:ext cx="52387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 支払期日の設定（受領から60日以内）</a:t>
            </a:r>
            <a:endParaRPr/>
          </a:p>
        </p:txBody>
      </p:sp>
      <p:sp>
        <p:nvSpPr>
          <p:cNvPr id="222" name="Google Shape;222;p21"/>
          <p:cNvSpPr txBox="1"/>
          <p:nvPr/>
        </p:nvSpPr>
        <p:spPr>
          <a:xfrm>
            <a:off x="666750" y="4357687"/>
            <a:ext cx="52387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 遅延利息の支払い（年率14.6%）</a:t>
            </a:r>
            <a:endParaRPr/>
          </a:p>
        </p:txBody>
      </p:sp>
      <p:pic>
        <p:nvPicPr>
          <p:cNvPr descr="image.png" id="223" name="Google Shape;223;p21"/>
          <p:cNvPicPr preferRelativeResize="0"/>
          <p:nvPr/>
        </p:nvPicPr>
        <p:blipFill rotWithShape="1">
          <a:blip r:embed="rId4">
            <a:alphaModFix/>
          </a:blip>
          <a:srcRect b="0" l="0" r="0" t="0"/>
          <a:stretch/>
        </p:blipFill>
        <p:spPr>
          <a:xfrm>
            <a:off x="6286500" y="2700337"/>
            <a:ext cx="207466" cy="266700"/>
          </a:xfrm>
          <a:prstGeom prst="rect">
            <a:avLst/>
          </a:prstGeom>
          <a:noFill/>
          <a:ln>
            <a:noFill/>
          </a:ln>
        </p:spPr>
      </p:pic>
      <p:sp>
        <p:nvSpPr>
          <p:cNvPr id="224" name="Google Shape;224;p21"/>
          <p:cNvSpPr txBox="1"/>
          <p:nvPr/>
        </p:nvSpPr>
        <p:spPr>
          <a:xfrm>
            <a:off x="6477000" y="3157537"/>
            <a:ext cx="52387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 受領拒否・返品の禁止</a:t>
            </a:r>
            <a:endParaRPr/>
          </a:p>
        </p:txBody>
      </p:sp>
      <p:sp>
        <p:nvSpPr>
          <p:cNvPr id="225" name="Google Shape;225;p21"/>
          <p:cNvSpPr txBox="1"/>
          <p:nvPr/>
        </p:nvSpPr>
        <p:spPr>
          <a:xfrm>
            <a:off x="6477000" y="3557587"/>
            <a:ext cx="52387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 支払遅延・代金減額の禁止</a:t>
            </a:r>
            <a:endParaRPr/>
          </a:p>
        </p:txBody>
      </p:sp>
      <p:sp>
        <p:nvSpPr>
          <p:cNvPr id="226" name="Google Shape;226;p21"/>
          <p:cNvSpPr txBox="1"/>
          <p:nvPr/>
        </p:nvSpPr>
        <p:spPr>
          <a:xfrm>
            <a:off x="6477000" y="3957637"/>
            <a:ext cx="52387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 買いたたきの禁止</a:t>
            </a:r>
            <a:endParaRPr/>
          </a:p>
        </p:txBody>
      </p:sp>
      <p:sp>
        <p:nvSpPr>
          <p:cNvPr id="227" name="Google Shape;227;p21"/>
          <p:cNvSpPr txBox="1"/>
          <p:nvPr/>
        </p:nvSpPr>
        <p:spPr>
          <a:xfrm>
            <a:off x="6477000" y="4357687"/>
            <a:ext cx="52387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 購入・利用強制の禁止</a:t>
            </a:r>
            <a:endParaRPr/>
          </a:p>
        </p:txBody>
      </p:sp>
      <p:sp>
        <p:nvSpPr>
          <p:cNvPr id="228" name="Google Shape;228;p21"/>
          <p:cNvSpPr txBox="1"/>
          <p:nvPr/>
        </p:nvSpPr>
        <p:spPr>
          <a:xfrm>
            <a:off x="6477000" y="4757737"/>
            <a:ext cx="52387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 報復措置の禁止</a:t>
            </a:r>
            <a:endParaRPr/>
          </a:p>
        </p:txBody>
      </p:sp>
      <p:sp>
        <p:nvSpPr>
          <p:cNvPr id="229" name="Google Shape;229;p21"/>
          <p:cNvSpPr txBox="1"/>
          <p:nvPr/>
        </p:nvSpPr>
        <p:spPr>
          <a:xfrm>
            <a:off x="6477000" y="5157787"/>
            <a:ext cx="52387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3333"/>
                </a:solidFill>
                <a:latin typeface="Noto Sans JP"/>
                <a:ea typeface="Noto Sans JP"/>
                <a:cs typeface="Noto Sans JP"/>
                <a:sym typeface="Noto Sans JP"/>
              </a:rPr>
              <a:t>□ </a:t>
            </a:r>
            <a:r>
              <a:rPr b="1" i="0" lang="en-US" sz="1500" u="none" cap="none" strike="noStrike">
                <a:solidFill>
                  <a:srgbClr val="333333"/>
                </a:solidFill>
                <a:latin typeface="Noto Sans JP"/>
                <a:ea typeface="Noto Sans JP"/>
                <a:cs typeface="Noto Sans JP"/>
                <a:sym typeface="Noto Sans JP"/>
              </a:rPr>
              <a:t>協議を経ない一方的な代金決定（NEW）</a:t>
            </a:r>
            <a:endParaRPr/>
          </a:p>
        </p:txBody>
      </p:sp>
      <p:sp>
        <p:nvSpPr>
          <p:cNvPr id="230" name="Google Shape;230;p21"/>
          <p:cNvSpPr txBox="1"/>
          <p:nvPr/>
        </p:nvSpPr>
        <p:spPr>
          <a:xfrm>
            <a:off x="476250" y="476250"/>
            <a:ext cx="11715750" cy="638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Noto Sans JP"/>
                <a:ea typeface="Noto Sans JP"/>
                <a:cs typeface="Noto Sans JP"/>
                <a:sym typeface="Noto Sans JP"/>
              </a:rPr>
              <a:t>遵守事項チェックリスト</a:t>
            </a:r>
            <a:endParaRPr/>
          </a:p>
        </p:txBody>
      </p:sp>
      <p:sp>
        <p:nvSpPr>
          <p:cNvPr id="231" name="Google Shape;231;p21"/>
          <p:cNvSpPr/>
          <p:nvPr/>
        </p:nvSpPr>
        <p:spPr>
          <a:xfrm>
            <a:off x="476250" y="1228725"/>
            <a:ext cx="112395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235" name="Shape 235"/>
        <p:cNvGrpSpPr/>
        <p:nvPr/>
      </p:nvGrpSpPr>
      <p:grpSpPr>
        <a:xfrm>
          <a:off x="0" y="0"/>
          <a:ext cx="0" cy="0"/>
          <a:chOff x="0" y="0"/>
          <a:chExt cx="0" cy="0"/>
        </a:xfrm>
      </p:grpSpPr>
      <p:sp>
        <p:nvSpPr>
          <p:cNvPr id="236" name="Google Shape;236;p22"/>
          <p:cNvSpPr/>
          <p:nvPr/>
        </p:nvSpPr>
        <p:spPr>
          <a:xfrm>
            <a:off x="476250" y="2638425"/>
            <a:ext cx="5429250" cy="12763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7" name="Google Shape;237;p22"/>
          <p:cNvSpPr txBox="1"/>
          <p:nvPr/>
        </p:nvSpPr>
        <p:spPr>
          <a:xfrm>
            <a:off x="666750" y="2828925"/>
            <a:ext cx="5048250" cy="895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05088"/>
                </a:solidFill>
                <a:latin typeface="Noto Sans JP"/>
                <a:ea typeface="Noto Sans JP"/>
                <a:cs typeface="Noto Sans JP"/>
                <a:sym typeface="Noto Sans JP"/>
              </a:rPr>
              <a:t>Q. メールでの発注に切り替えても良いですか？</a:t>
            </a:r>
            <a:r>
              <a:rPr b="0" i="0" lang="en-US" sz="1200" u="none" cap="none" strike="noStrike">
                <a:solidFill>
                  <a:srgbClr val="000000"/>
                </a:solidFill>
                <a:latin typeface="Noto Sans JP"/>
                <a:ea typeface="Noto Sans JP"/>
                <a:cs typeface="Noto Sans JP"/>
                <a:sym typeface="Noto Sans JP"/>
              </a:rPr>
              <a:t> </a:t>
            </a:r>
            <a:r>
              <a:rPr b="0" i="0" lang="en-US" sz="1200" u="none" cap="none" strike="noStrike">
                <a:solidFill>
                  <a:srgbClr val="333333"/>
                </a:solidFill>
                <a:latin typeface="Noto Sans JP"/>
                <a:ea typeface="Noto Sans JP"/>
                <a:cs typeface="Noto Sans JP"/>
                <a:sym typeface="Noto Sans JP"/>
              </a:rPr>
              <a:t>A. はい、可能です。今回の改正で相手方の承諾が不要になったため、スムーズに導入できます。ただし、相手から紙での交付を求められた場合は応じる必要があります。</a:t>
            </a:r>
            <a:endParaRPr/>
          </a:p>
        </p:txBody>
      </p:sp>
      <p:sp>
        <p:nvSpPr>
          <p:cNvPr id="238" name="Google Shape;238;p22"/>
          <p:cNvSpPr/>
          <p:nvPr/>
        </p:nvSpPr>
        <p:spPr>
          <a:xfrm>
            <a:off x="476250" y="2638425"/>
            <a:ext cx="47625" cy="1276350"/>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22"/>
          <p:cNvSpPr/>
          <p:nvPr/>
        </p:nvSpPr>
        <p:spPr>
          <a:xfrm>
            <a:off x="476250" y="4105275"/>
            <a:ext cx="5429250" cy="12763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0" name="Google Shape;240;p22"/>
          <p:cNvSpPr txBox="1"/>
          <p:nvPr/>
        </p:nvSpPr>
        <p:spPr>
          <a:xfrm>
            <a:off x="666750" y="4295775"/>
            <a:ext cx="5048250" cy="895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05088"/>
                </a:solidFill>
                <a:latin typeface="Noto Sans JP"/>
                <a:ea typeface="Noto Sans JP"/>
                <a:cs typeface="Noto Sans JP"/>
                <a:sym typeface="Noto Sans JP"/>
              </a:rPr>
              <a:t>Q. すでに契約中の取引はどうなりますか？</a:t>
            </a:r>
            <a:r>
              <a:rPr b="0" i="0" lang="en-US" sz="1200" u="none" cap="none" strike="noStrike">
                <a:solidFill>
                  <a:srgbClr val="000000"/>
                </a:solidFill>
                <a:latin typeface="Noto Sans JP"/>
                <a:ea typeface="Noto Sans JP"/>
                <a:cs typeface="Noto Sans JP"/>
                <a:sym typeface="Noto Sans JP"/>
              </a:rPr>
              <a:t> </a:t>
            </a:r>
            <a:r>
              <a:rPr b="0" i="0" lang="en-US" sz="1200" u="none" cap="none" strike="noStrike">
                <a:solidFill>
                  <a:srgbClr val="333333"/>
                </a:solidFill>
                <a:latin typeface="Noto Sans JP"/>
                <a:ea typeface="Noto Sans JP"/>
                <a:cs typeface="Noto Sans JP"/>
                <a:sym typeface="Noto Sans JP"/>
              </a:rPr>
              <a:t>A. 令和8年1月1日以降に行われる取引（発注）から新法が適用されます。既存の基本契約書に「手形払い」や「協議不要の価格決定」等の条項がある場合は、施行日までに改定が必要です。</a:t>
            </a:r>
            <a:endParaRPr/>
          </a:p>
        </p:txBody>
      </p:sp>
      <p:sp>
        <p:nvSpPr>
          <p:cNvPr id="241" name="Google Shape;241;p22"/>
          <p:cNvSpPr/>
          <p:nvPr/>
        </p:nvSpPr>
        <p:spPr>
          <a:xfrm>
            <a:off x="476250" y="4105275"/>
            <a:ext cx="47625" cy="1276350"/>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2" name="Google Shape;242;p22"/>
          <p:cNvSpPr/>
          <p:nvPr/>
        </p:nvSpPr>
        <p:spPr>
          <a:xfrm>
            <a:off x="6286500" y="2638425"/>
            <a:ext cx="5429250" cy="12763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22"/>
          <p:cNvSpPr txBox="1"/>
          <p:nvPr/>
        </p:nvSpPr>
        <p:spPr>
          <a:xfrm>
            <a:off x="6477000" y="2828925"/>
            <a:ext cx="5048250" cy="895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05088"/>
                </a:solidFill>
                <a:latin typeface="Noto Sans JP"/>
                <a:ea typeface="Noto Sans JP"/>
                <a:cs typeface="Noto Sans JP"/>
                <a:sym typeface="Noto Sans JP"/>
              </a:rPr>
              <a:t>Q. 「特定運送委託」とは具体的に何を指しますか？</a:t>
            </a:r>
            <a:r>
              <a:rPr b="0" i="0" lang="en-US" sz="1200" u="none" cap="none" strike="noStrike">
                <a:solidFill>
                  <a:srgbClr val="000000"/>
                </a:solidFill>
                <a:latin typeface="Noto Sans JP"/>
                <a:ea typeface="Noto Sans JP"/>
                <a:cs typeface="Noto Sans JP"/>
                <a:sym typeface="Noto Sans JP"/>
              </a:rPr>
              <a:t> </a:t>
            </a:r>
            <a:r>
              <a:rPr b="0" i="0" lang="en-US" sz="1200" u="none" cap="none" strike="noStrike">
                <a:solidFill>
                  <a:srgbClr val="333333"/>
                </a:solidFill>
                <a:latin typeface="Noto Sans JP"/>
                <a:ea typeface="Noto Sans JP"/>
                <a:cs typeface="Noto Sans JP"/>
                <a:sym typeface="Noto Sans JP"/>
              </a:rPr>
              <a:t>A. 自社で販売・製造・修理した物品を、取引先に納入する際の「運送」を、運送会社等に再委託する場合などが該当します。自社便で運ぶ場合は対象外です。</a:t>
            </a:r>
            <a:endParaRPr/>
          </a:p>
        </p:txBody>
      </p:sp>
      <p:sp>
        <p:nvSpPr>
          <p:cNvPr id="244" name="Google Shape;244;p22"/>
          <p:cNvSpPr/>
          <p:nvPr/>
        </p:nvSpPr>
        <p:spPr>
          <a:xfrm>
            <a:off x="6286500" y="2638425"/>
            <a:ext cx="47625" cy="1276350"/>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5" name="Google Shape;245;p22"/>
          <p:cNvSpPr txBox="1"/>
          <p:nvPr/>
        </p:nvSpPr>
        <p:spPr>
          <a:xfrm>
            <a:off x="476250" y="476250"/>
            <a:ext cx="11715750" cy="638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Noto Sans JP"/>
                <a:ea typeface="Noto Sans JP"/>
                <a:cs typeface="Noto Sans JP"/>
                <a:sym typeface="Noto Sans JP"/>
              </a:rPr>
              <a:t>想定Q&amp;A</a:t>
            </a:r>
            <a:endParaRPr/>
          </a:p>
        </p:txBody>
      </p:sp>
      <p:sp>
        <p:nvSpPr>
          <p:cNvPr id="246" name="Google Shape;246;p22"/>
          <p:cNvSpPr/>
          <p:nvPr/>
        </p:nvSpPr>
        <p:spPr>
          <a:xfrm>
            <a:off x="476250" y="1228725"/>
            <a:ext cx="112395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250" name="Shape 250"/>
        <p:cNvGrpSpPr/>
        <p:nvPr/>
      </p:nvGrpSpPr>
      <p:grpSpPr>
        <a:xfrm>
          <a:off x="0" y="0"/>
          <a:ext cx="0" cy="0"/>
          <a:chOff x="0" y="0"/>
          <a:chExt cx="0" cy="0"/>
        </a:xfrm>
      </p:grpSpPr>
      <p:pic>
        <p:nvPicPr>
          <p:cNvPr descr="image.png" id="251" name="Google Shape;251;p23"/>
          <p:cNvPicPr preferRelativeResize="0"/>
          <p:nvPr/>
        </p:nvPicPr>
        <p:blipFill rotWithShape="1">
          <a:blip r:embed="rId3">
            <a:alphaModFix/>
          </a:blip>
          <a:srcRect b="0" l="0" r="0" t="0"/>
          <a:stretch/>
        </p:blipFill>
        <p:spPr>
          <a:xfrm>
            <a:off x="7372350" y="2200275"/>
            <a:ext cx="4343400" cy="3810000"/>
          </a:xfrm>
          <a:prstGeom prst="rect">
            <a:avLst/>
          </a:prstGeom>
          <a:noFill/>
          <a:ln>
            <a:noFill/>
          </a:ln>
        </p:spPr>
      </p:pic>
      <p:pic>
        <p:nvPicPr>
          <p:cNvPr descr="image.png" id="252" name="Google Shape;252;p23"/>
          <p:cNvPicPr preferRelativeResize="0"/>
          <p:nvPr/>
        </p:nvPicPr>
        <p:blipFill rotWithShape="1">
          <a:blip r:embed="rId4">
            <a:alphaModFix/>
          </a:blip>
          <a:srcRect b="0" l="0" r="0" t="0"/>
          <a:stretch/>
        </p:blipFill>
        <p:spPr>
          <a:xfrm>
            <a:off x="476250" y="4776787"/>
            <a:ext cx="6515100" cy="1000125"/>
          </a:xfrm>
          <a:prstGeom prst="rect">
            <a:avLst/>
          </a:prstGeom>
          <a:noFill/>
          <a:ln>
            <a:noFill/>
          </a:ln>
        </p:spPr>
      </p:pic>
      <p:sp>
        <p:nvSpPr>
          <p:cNvPr id="253" name="Google Shape;253;p23"/>
          <p:cNvSpPr txBox="1"/>
          <p:nvPr/>
        </p:nvSpPr>
        <p:spPr>
          <a:xfrm>
            <a:off x="476250" y="2433637"/>
            <a:ext cx="6840855"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Noto Sans JP"/>
                <a:ea typeface="Noto Sans JP"/>
                <a:cs typeface="Noto Sans JP"/>
                <a:sym typeface="Noto Sans JP"/>
              </a:rPr>
              <a:t>担当者が今すぐやるべきこと</a:t>
            </a:r>
            <a:endParaRPr/>
          </a:p>
        </p:txBody>
      </p:sp>
      <p:pic>
        <p:nvPicPr>
          <p:cNvPr descr="image.png" id="254" name="Google Shape;254;p23"/>
          <p:cNvPicPr preferRelativeResize="0"/>
          <p:nvPr/>
        </p:nvPicPr>
        <p:blipFill rotWithShape="1">
          <a:blip r:embed="rId5">
            <a:alphaModFix/>
          </a:blip>
          <a:srcRect b="0" l="0" r="0" t="0"/>
          <a:stretch/>
        </p:blipFill>
        <p:spPr>
          <a:xfrm>
            <a:off x="7372350" y="2200275"/>
            <a:ext cx="4343400" cy="3810000"/>
          </a:xfrm>
          <a:prstGeom prst="rect">
            <a:avLst/>
          </a:prstGeom>
          <a:noFill/>
          <a:ln>
            <a:noFill/>
          </a:ln>
        </p:spPr>
      </p:pic>
      <p:sp>
        <p:nvSpPr>
          <p:cNvPr id="255" name="Google Shape;255;p23"/>
          <p:cNvSpPr txBox="1"/>
          <p:nvPr/>
        </p:nvSpPr>
        <p:spPr>
          <a:xfrm>
            <a:off x="695325" y="2986087"/>
            <a:ext cx="16192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1.</a:t>
            </a:r>
            <a:endParaRPr/>
          </a:p>
        </p:txBody>
      </p:sp>
      <p:sp>
        <p:nvSpPr>
          <p:cNvPr id="256" name="Google Shape;256;p23"/>
          <p:cNvSpPr txBox="1"/>
          <p:nvPr/>
        </p:nvSpPr>
        <p:spPr>
          <a:xfrm>
            <a:off x="857250" y="2986087"/>
            <a:ext cx="6134100" cy="304800"/>
          </a:xfrm>
          <a:prstGeom prst="rect">
            <a:avLst/>
          </a:prstGeom>
          <a:noFill/>
          <a:ln>
            <a:noFill/>
          </a:ln>
        </p:spPr>
        <p:txBody>
          <a:bodyPr anchorCtr="0" anchor="t" bIns="0" lIns="16192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自社が「委託事業者」に該当するか再確認（従業員数）</a:t>
            </a:r>
            <a:endParaRPr/>
          </a:p>
        </p:txBody>
      </p:sp>
      <p:sp>
        <p:nvSpPr>
          <p:cNvPr id="257" name="Google Shape;257;p23"/>
          <p:cNvSpPr txBox="1"/>
          <p:nvPr/>
        </p:nvSpPr>
        <p:spPr>
          <a:xfrm>
            <a:off x="695325" y="3386137"/>
            <a:ext cx="16192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2.</a:t>
            </a:r>
            <a:endParaRPr/>
          </a:p>
        </p:txBody>
      </p:sp>
      <p:sp>
        <p:nvSpPr>
          <p:cNvPr id="258" name="Google Shape;258;p23"/>
          <p:cNvSpPr txBox="1"/>
          <p:nvPr/>
        </p:nvSpPr>
        <p:spPr>
          <a:xfrm>
            <a:off x="857250" y="3386137"/>
            <a:ext cx="6134100" cy="304800"/>
          </a:xfrm>
          <a:prstGeom prst="rect">
            <a:avLst/>
          </a:prstGeom>
          <a:noFill/>
          <a:ln>
            <a:noFill/>
          </a:ln>
        </p:spPr>
        <p:txBody>
          <a:bodyPr anchorCtr="0" anchor="t" bIns="0" lIns="16192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支払サイト（60日以内・現金化）の点検</a:t>
            </a:r>
            <a:endParaRPr/>
          </a:p>
        </p:txBody>
      </p:sp>
      <p:sp>
        <p:nvSpPr>
          <p:cNvPr id="259" name="Google Shape;259;p23"/>
          <p:cNvSpPr txBox="1"/>
          <p:nvPr/>
        </p:nvSpPr>
        <p:spPr>
          <a:xfrm>
            <a:off x="695325" y="3786187"/>
            <a:ext cx="16192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3.</a:t>
            </a:r>
            <a:endParaRPr/>
          </a:p>
        </p:txBody>
      </p:sp>
      <p:sp>
        <p:nvSpPr>
          <p:cNvPr id="260" name="Google Shape;260;p23"/>
          <p:cNvSpPr txBox="1"/>
          <p:nvPr/>
        </p:nvSpPr>
        <p:spPr>
          <a:xfrm>
            <a:off x="857250" y="3786187"/>
            <a:ext cx="6134100" cy="304800"/>
          </a:xfrm>
          <a:prstGeom prst="rect">
            <a:avLst/>
          </a:prstGeom>
          <a:noFill/>
          <a:ln>
            <a:noFill/>
          </a:ln>
        </p:spPr>
        <p:txBody>
          <a:bodyPr anchorCtr="0" anchor="t" bIns="0" lIns="16192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価格交渉プロセスの見直しと記録の徹底</a:t>
            </a:r>
            <a:endParaRPr/>
          </a:p>
        </p:txBody>
      </p:sp>
      <p:sp>
        <p:nvSpPr>
          <p:cNvPr id="261" name="Google Shape;261;p23"/>
          <p:cNvSpPr txBox="1"/>
          <p:nvPr/>
        </p:nvSpPr>
        <p:spPr>
          <a:xfrm>
            <a:off x="695325" y="4186237"/>
            <a:ext cx="16192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4.</a:t>
            </a:r>
            <a:endParaRPr/>
          </a:p>
        </p:txBody>
      </p:sp>
      <p:sp>
        <p:nvSpPr>
          <p:cNvPr id="262" name="Google Shape;262;p23"/>
          <p:cNvSpPr txBox="1"/>
          <p:nvPr/>
        </p:nvSpPr>
        <p:spPr>
          <a:xfrm>
            <a:off x="857250" y="4186237"/>
            <a:ext cx="6134100" cy="304800"/>
          </a:xfrm>
          <a:prstGeom prst="rect">
            <a:avLst/>
          </a:prstGeom>
          <a:noFill/>
          <a:ln>
            <a:noFill/>
          </a:ln>
        </p:spPr>
        <p:txBody>
          <a:bodyPr anchorCtr="0" anchor="t" bIns="0" lIns="16192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3333"/>
                </a:solidFill>
                <a:latin typeface="Noto Sans JP"/>
                <a:ea typeface="Noto Sans JP"/>
                <a:cs typeface="Noto Sans JP"/>
                <a:sym typeface="Noto Sans JP"/>
              </a:rPr>
              <a:t>基本契約書の条文チェック</a:t>
            </a:r>
            <a:endParaRPr/>
          </a:p>
        </p:txBody>
      </p:sp>
      <p:sp>
        <p:nvSpPr>
          <p:cNvPr id="263" name="Google Shape;263;p23"/>
          <p:cNvSpPr txBox="1"/>
          <p:nvPr/>
        </p:nvSpPr>
        <p:spPr>
          <a:xfrm>
            <a:off x="676275" y="4986337"/>
            <a:ext cx="770632" cy="161925"/>
          </a:xfrm>
          <a:prstGeom prst="rect">
            <a:avLst/>
          </a:prstGeom>
          <a:noFill/>
          <a:ln>
            <a:noFill/>
          </a:ln>
        </p:spPr>
        <p:txBody>
          <a:bodyPr anchorCtr="0" anchor="t" bIns="0" lIns="118600" spcFirstLastPara="1" rIns="0" wrap="square" tIns="0">
            <a:spAutoFit/>
          </a:bodyPr>
          <a:lstStyle/>
          <a:p>
            <a:pPr indent="0" lvl="0" marL="0" marR="0" rtl="0" algn="l">
              <a:spcBef>
                <a:spcPts val="0"/>
              </a:spcBef>
              <a:spcAft>
                <a:spcPts val="0"/>
              </a:spcAft>
              <a:buNone/>
            </a:pPr>
            <a:r>
              <a:rPr b="1" i="0" lang="en-US" sz="1200" u="none" cap="none" strike="noStrike">
                <a:solidFill>
                  <a:srgbClr val="000000"/>
                </a:solidFill>
                <a:latin typeface="Noto Sans JP"/>
                <a:ea typeface="Noto Sans JP"/>
                <a:cs typeface="Noto Sans JP"/>
                <a:sym typeface="Noto Sans JP"/>
              </a:rPr>
              <a:t>相談窓口</a:t>
            </a:r>
            <a:endParaRPr/>
          </a:p>
        </p:txBody>
      </p:sp>
      <p:pic>
        <p:nvPicPr>
          <p:cNvPr descr="image.png" id="264" name="Google Shape;264;p23"/>
          <p:cNvPicPr preferRelativeResize="0"/>
          <p:nvPr/>
        </p:nvPicPr>
        <p:blipFill rotWithShape="1">
          <a:blip r:embed="rId6">
            <a:alphaModFix/>
          </a:blip>
          <a:srcRect b="0" l="0" r="0" t="0"/>
          <a:stretch/>
        </p:blipFill>
        <p:spPr>
          <a:xfrm>
            <a:off x="676275" y="4995862"/>
            <a:ext cx="118616" cy="152400"/>
          </a:xfrm>
          <a:prstGeom prst="rect">
            <a:avLst/>
          </a:prstGeom>
          <a:noFill/>
          <a:ln>
            <a:noFill/>
          </a:ln>
        </p:spPr>
      </p:pic>
      <p:sp>
        <p:nvSpPr>
          <p:cNvPr id="265" name="Google Shape;265;p23"/>
          <p:cNvSpPr txBox="1"/>
          <p:nvPr/>
        </p:nvSpPr>
        <p:spPr>
          <a:xfrm>
            <a:off x="476250" y="476250"/>
            <a:ext cx="11715750" cy="638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Noto Sans JP"/>
                <a:ea typeface="Noto Sans JP"/>
                <a:cs typeface="Noto Sans JP"/>
                <a:sym typeface="Noto Sans JP"/>
              </a:rPr>
              <a:t>まとめと相談窓口</a:t>
            </a:r>
            <a:endParaRPr/>
          </a:p>
        </p:txBody>
      </p:sp>
      <p:sp>
        <p:nvSpPr>
          <p:cNvPr id="266" name="Google Shape;266;p23"/>
          <p:cNvSpPr/>
          <p:nvPr/>
        </p:nvSpPr>
        <p:spPr>
          <a:xfrm>
            <a:off x="476250" y="1228725"/>
            <a:ext cx="112395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270" name="Shape 270"/>
        <p:cNvGrpSpPr/>
        <p:nvPr/>
      </p:nvGrpSpPr>
      <p:grpSpPr>
        <a:xfrm>
          <a:off x="0" y="0"/>
          <a:ext cx="0" cy="0"/>
          <a:chOff x="0" y="0"/>
          <a:chExt cx="0" cy="0"/>
        </a:xfrm>
      </p:grpSpPr>
      <p:sp>
        <p:nvSpPr>
          <p:cNvPr id="271" name="Google Shape;271;p24"/>
          <p:cNvSpPr/>
          <p:nvPr/>
        </p:nvSpPr>
        <p:spPr>
          <a:xfrm>
            <a:off x="476250" y="2006203"/>
            <a:ext cx="112395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2" name="Google Shape;272;p24"/>
          <p:cNvSpPr/>
          <p:nvPr/>
        </p:nvSpPr>
        <p:spPr>
          <a:xfrm>
            <a:off x="476250" y="2790973"/>
            <a:ext cx="112395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24"/>
          <p:cNvSpPr/>
          <p:nvPr/>
        </p:nvSpPr>
        <p:spPr>
          <a:xfrm>
            <a:off x="476250" y="3575744"/>
            <a:ext cx="112395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4"/>
          <p:cNvSpPr/>
          <p:nvPr/>
        </p:nvSpPr>
        <p:spPr>
          <a:xfrm>
            <a:off x="476250" y="4360515"/>
            <a:ext cx="11239500" cy="9828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24"/>
          <p:cNvSpPr/>
          <p:nvPr/>
        </p:nvSpPr>
        <p:spPr>
          <a:xfrm>
            <a:off x="476250" y="2781448"/>
            <a:ext cx="112395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24"/>
          <p:cNvSpPr/>
          <p:nvPr/>
        </p:nvSpPr>
        <p:spPr>
          <a:xfrm>
            <a:off x="476250" y="2781448"/>
            <a:ext cx="112395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7" name="Google Shape;277;p24"/>
          <p:cNvSpPr/>
          <p:nvPr/>
        </p:nvSpPr>
        <p:spPr>
          <a:xfrm>
            <a:off x="476250" y="3566219"/>
            <a:ext cx="112395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24"/>
          <p:cNvSpPr/>
          <p:nvPr/>
        </p:nvSpPr>
        <p:spPr>
          <a:xfrm>
            <a:off x="476250" y="3566219"/>
            <a:ext cx="112395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24"/>
          <p:cNvSpPr/>
          <p:nvPr/>
        </p:nvSpPr>
        <p:spPr>
          <a:xfrm>
            <a:off x="476250" y="4350990"/>
            <a:ext cx="112395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0" name="Google Shape;280;p24"/>
          <p:cNvSpPr/>
          <p:nvPr/>
        </p:nvSpPr>
        <p:spPr>
          <a:xfrm>
            <a:off x="476250" y="4350990"/>
            <a:ext cx="112395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24"/>
          <p:cNvSpPr/>
          <p:nvPr/>
        </p:nvSpPr>
        <p:spPr>
          <a:xfrm>
            <a:off x="476250" y="5333851"/>
            <a:ext cx="112395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2" name="Google Shape;282;p24"/>
          <p:cNvSpPr/>
          <p:nvPr/>
        </p:nvSpPr>
        <p:spPr>
          <a:xfrm>
            <a:off x="476250" y="5333851"/>
            <a:ext cx="112395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83" name="Google Shape;283;p24"/>
          <p:cNvPicPr preferRelativeResize="0"/>
          <p:nvPr/>
        </p:nvPicPr>
        <p:blipFill rotWithShape="1">
          <a:blip r:embed="rId3">
            <a:alphaModFix/>
          </a:blip>
          <a:srcRect b="0" l="0" r="0" t="0"/>
          <a:stretch/>
        </p:blipFill>
        <p:spPr>
          <a:xfrm>
            <a:off x="476250" y="2155626"/>
            <a:ext cx="857250" cy="476250"/>
          </a:xfrm>
          <a:prstGeom prst="rect">
            <a:avLst/>
          </a:prstGeom>
          <a:noFill/>
          <a:ln>
            <a:noFill/>
          </a:ln>
        </p:spPr>
      </p:pic>
      <p:sp>
        <p:nvSpPr>
          <p:cNvPr id="284" name="Google Shape;284;p24"/>
          <p:cNvSpPr txBox="1"/>
          <p:nvPr/>
        </p:nvSpPr>
        <p:spPr>
          <a:xfrm>
            <a:off x="1571625" y="2149078"/>
            <a:ext cx="101441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333333"/>
                </a:solidFill>
                <a:latin typeface="Noto Sans JP"/>
                <a:ea typeface="Noto Sans JP"/>
                <a:cs typeface="Noto Sans JP"/>
                <a:sym typeface="Noto Sans JP"/>
              </a:rPr>
              <a:t>https://www.transportify.com.ph/wp-content/uploads/sites/5/2021/07/Rent-A-Delivery-Truck-From-A-Logistics-Service-Company-OG.jpg</a:t>
            </a:r>
            <a:endParaRPr/>
          </a:p>
        </p:txBody>
      </p:sp>
      <p:sp>
        <p:nvSpPr>
          <p:cNvPr id="285" name="Google Shape;285;p24"/>
          <p:cNvSpPr txBox="1"/>
          <p:nvPr/>
        </p:nvSpPr>
        <p:spPr>
          <a:xfrm>
            <a:off x="1571625" y="2394793"/>
            <a:ext cx="101441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33333"/>
                </a:solidFill>
                <a:latin typeface="Noto Sans JP"/>
                <a:ea typeface="Noto Sans JP"/>
                <a:cs typeface="Noto Sans JP"/>
                <a:sym typeface="Noto Sans JP"/>
              </a:rPr>
              <a:t>Source: </a:t>
            </a:r>
            <a:r>
              <a:rPr b="0" i="0" lang="en-US" sz="1200" u="none" cap="none" strike="noStrike">
                <a:solidFill>
                  <a:srgbClr val="4F46E5"/>
                </a:solidFill>
                <a:latin typeface="Noto Sans JP"/>
                <a:ea typeface="Noto Sans JP"/>
                <a:cs typeface="Noto Sans JP"/>
                <a:sym typeface="Noto Sans JP"/>
              </a:rPr>
              <a:t>www.transportify.com.ph</a:t>
            </a:r>
            <a:endParaRPr/>
          </a:p>
        </p:txBody>
      </p:sp>
      <p:pic>
        <p:nvPicPr>
          <p:cNvPr descr="image.png" id="286" name="Google Shape;286;p24"/>
          <p:cNvPicPr preferRelativeResize="0"/>
          <p:nvPr/>
        </p:nvPicPr>
        <p:blipFill rotWithShape="1">
          <a:blip r:embed="rId4">
            <a:alphaModFix/>
          </a:blip>
          <a:srcRect b="0" l="0" r="0" t="0"/>
          <a:stretch/>
        </p:blipFill>
        <p:spPr>
          <a:xfrm>
            <a:off x="476250" y="2940397"/>
            <a:ext cx="857250" cy="476250"/>
          </a:xfrm>
          <a:prstGeom prst="rect">
            <a:avLst/>
          </a:prstGeom>
          <a:noFill/>
          <a:ln>
            <a:noFill/>
          </a:ln>
        </p:spPr>
      </p:pic>
      <p:sp>
        <p:nvSpPr>
          <p:cNvPr id="287" name="Google Shape;287;p24"/>
          <p:cNvSpPr txBox="1"/>
          <p:nvPr/>
        </p:nvSpPr>
        <p:spPr>
          <a:xfrm>
            <a:off x="1571625" y="2933848"/>
            <a:ext cx="101441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333333"/>
                </a:solidFill>
                <a:latin typeface="Noto Sans JP"/>
                <a:ea typeface="Noto Sans JP"/>
                <a:cs typeface="Noto Sans JP"/>
                <a:sym typeface="Noto Sans JP"/>
              </a:rPr>
              <a:t>https://img.freepik.com/premium-photo/equipment-production-molds-cloth-garment-factory_508835-7011.jpg</a:t>
            </a:r>
            <a:endParaRPr/>
          </a:p>
        </p:txBody>
      </p:sp>
      <p:sp>
        <p:nvSpPr>
          <p:cNvPr id="288" name="Google Shape;288;p24"/>
          <p:cNvSpPr txBox="1"/>
          <p:nvPr/>
        </p:nvSpPr>
        <p:spPr>
          <a:xfrm>
            <a:off x="1571625" y="3179564"/>
            <a:ext cx="101441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33333"/>
                </a:solidFill>
                <a:latin typeface="Noto Sans JP"/>
                <a:ea typeface="Noto Sans JP"/>
                <a:cs typeface="Noto Sans JP"/>
                <a:sym typeface="Noto Sans JP"/>
              </a:rPr>
              <a:t>Source: </a:t>
            </a:r>
            <a:r>
              <a:rPr b="0" i="0" lang="en-US" sz="1200" u="none" cap="none" strike="noStrike">
                <a:solidFill>
                  <a:srgbClr val="4F46E5"/>
                </a:solidFill>
                <a:latin typeface="Noto Sans JP"/>
                <a:ea typeface="Noto Sans JP"/>
                <a:cs typeface="Noto Sans JP"/>
                <a:sym typeface="Noto Sans JP"/>
              </a:rPr>
              <a:t>www.freepik.com</a:t>
            </a:r>
            <a:endParaRPr/>
          </a:p>
        </p:txBody>
      </p:sp>
      <p:pic>
        <p:nvPicPr>
          <p:cNvPr descr="image.png" id="289" name="Google Shape;289;p24"/>
          <p:cNvPicPr preferRelativeResize="0"/>
          <p:nvPr/>
        </p:nvPicPr>
        <p:blipFill rotWithShape="1">
          <a:blip r:embed="rId5">
            <a:alphaModFix/>
          </a:blip>
          <a:srcRect b="0" l="0" r="0" t="0"/>
          <a:stretch/>
        </p:blipFill>
        <p:spPr>
          <a:xfrm>
            <a:off x="476250" y="3725167"/>
            <a:ext cx="857250" cy="476250"/>
          </a:xfrm>
          <a:prstGeom prst="rect">
            <a:avLst/>
          </a:prstGeom>
          <a:noFill/>
          <a:ln>
            <a:noFill/>
          </a:ln>
        </p:spPr>
      </p:pic>
      <p:sp>
        <p:nvSpPr>
          <p:cNvPr id="290" name="Google Shape;290;p24"/>
          <p:cNvSpPr txBox="1"/>
          <p:nvPr/>
        </p:nvSpPr>
        <p:spPr>
          <a:xfrm>
            <a:off x="1571625" y="3718619"/>
            <a:ext cx="101441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333333"/>
                </a:solidFill>
                <a:latin typeface="Noto Sans JP"/>
                <a:ea typeface="Noto Sans JP"/>
                <a:cs typeface="Noto Sans JP"/>
                <a:sym typeface="Noto Sans JP"/>
              </a:rPr>
              <a:t>https://www.flowlu.com/help/assets/images/665/c05a44cc-0f41-11ee-a147-fa163e2ff576.png</a:t>
            </a:r>
            <a:endParaRPr/>
          </a:p>
        </p:txBody>
      </p:sp>
      <p:sp>
        <p:nvSpPr>
          <p:cNvPr id="291" name="Google Shape;291;p24"/>
          <p:cNvSpPr txBox="1"/>
          <p:nvPr/>
        </p:nvSpPr>
        <p:spPr>
          <a:xfrm>
            <a:off x="1571625" y="3964334"/>
            <a:ext cx="101441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33333"/>
                </a:solidFill>
                <a:latin typeface="Noto Sans JP"/>
                <a:ea typeface="Noto Sans JP"/>
                <a:cs typeface="Noto Sans JP"/>
                <a:sym typeface="Noto Sans JP"/>
              </a:rPr>
              <a:t>Source: </a:t>
            </a:r>
            <a:r>
              <a:rPr b="0" i="0" lang="en-US" sz="1200" u="none" cap="none" strike="noStrike">
                <a:solidFill>
                  <a:srgbClr val="4F46E5"/>
                </a:solidFill>
                <a:latin typeface="Noto Sans JP"/>
                <a:ea typeface="Noto Sans JP"/>
                <a:cs typeface="Noto Sans JP"/>
                <a:sym typeface="Noto Sans JP"/>
              </a:rPr>
              <a:t>www.flowlu.com</a:t>
            </a:r>
            <a:endParaRPr/>
          </a:p>
        </p:txBody>
      </p:sp>
      <p:pic>
        <p:nvPicPr>
          <p:cNvPr descr="image.png" id="292" name="Google Shape;292;p24"/>
          <p:cNvPicPr preferRelativeResize="0"/>
          <p:nvPr/>
        </p:nvPicPr>
        <p:blipFill rotWithShape="1">
          <a:blip r:embed="rId6">
            <a:alphaModFix/>
          </a:blip>
          <a:srcRect b="0" l="0" r="0" t="0"/>
          <a:stretch/>
        </p:blipFill>
        <p:spPr>
          <a:xfrm>
            <a:off x="476250" y="4609058"/>
            <a:ext cx="857250" cy="476250"/>
          </a:xfrm>
          <a:prstGeom prst="rect">
            <a:avLst/>
          </a:prstGeom>
          <a:noFill/>
          <a:ln>
            <a:noFill/>
          </a:ln>
        </p:spPr>
      </p:pic>
      <p:sp>
        <p:nvSpPr>
          <p:cNvPr id="293" name="Google Shape;293;p24"/>
          <p:cNvSpPr txBox="1"/>
          <p:nvPr/>
        </p:nvSpPr>
        <p:spPr>
          <a:xfrm>
            <a:off x="1571625" y="4503390"/>
            <a:ext cx="1014412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333333"/>
                </a:solidFill>
                <a:latin typeface="Noto Sans JP"/>
                <a:ea typeface="Noto Sans JP"/>
                <a:cs typeface="Noto Sans JP"/>
                <a:sym typeface="Noto Sans JP"/>
              </a:rPr>
              <a:t>https://static.vecteezy.com/system/resources/previews/031/735/175/large_2x/business-people-shaking-hands-finishing-up-a-meeting-or-negotiation-handshake-concept-close-up-of-handshake-in-the-office-ai-generated-free-photo.jpg</a:t>
            </a:r>
            <a:endParaRPr/>
          </a:p>
        </p:txBody>
      </p:sp>
      <p:sp>
        <p:nvSpPr>
          <p:cNvPr id="294" name="Google Shape;294;p24"/>
          <p:cNvSpPr txBox="1"/>
          <p:nvPr/>
        </p:nvSpPr>
        <p:spPr>
          <a:xfrm>
            <a:off x="1571625" y="4947195"/>
            <a:ext cx="101441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33333"/>
                </a:solidFill>
                <a:latin typeface="Noto Sans JP"/>
                <a:ea typeface="Noto Sans JP"/>
                <a:cs typeface="Noto Sans JP"/>
                <a:sym typeface="Noto Sans JP"/>
              </a:rPr>
              <a:t>Source: </a:t>
            </a:r>
            <a:r>
              <a:rPr b="0" i="0" lang="en-US" sz="1200" u="none" cap="none" strike="noStrike">
                <a:solidFill>
                  <a:srgbClr val="4F46E5"/>
                </a:solidFill>
                <a:latin typeface="Noto Sans JP"/>
                <a:ea typeface="Noto Sans JP"/>
                <a:cs typeface="Noto Sans JP"/>
                <a:sym typeface="Noto Sans JP"/>
              </a:rPr>
              <a:t>www.vecteezy.com</a:t>
            </a:r>
            <a:endParaRPr/>
          </a:p>
        </p:txBody>
      </p:sp>
      <p:pic>
        <p:nvPicPr>
          <p:cNvPr descr="image.png" id="295" name="Google Shape;295;p24"/>
          <p:cNvPicPr preferRelativeResize="0"/>
          <p:nvPr/>
        </p:nvPicPr>
        <p:blipFill rotWithShape="1">
          <a:blip r:embed="rId7">
            <a:alphaModFix/>
          </a:blip>
          <a:srcRect b="0" l="0" r="0" t="0"/>
          <a:stretch/>
        </p:blipFill>
        <p:spPr>
          <a:xfrm>
            <a:off x="476250" y="5492799"/>
            <a:ext cx="857250" cy="476250"/>
          </a:xfrm>
          <a:prstGeom prst="rect">
            <a:avLst/>
          </a:prstGeom>
          <a:noFill/>
          <a:ln>
            <a:noFill/>
          </a:ln>
        </p:spPr>
      </p:pic>
      <p:sp>
        <p:nvSpPr>
          <p:cNvPr id="296" name="Google Shape;296;p24"/>
          <p:cNvSpPr txBox="1"/>
          <p:nvPr/>
        </p:nvSpPr>
        <p:spPr>
          <a:xfrm>
            <a:off x="1571625" y="5486251"/>
            <a:ext cx="101441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333333"/>
                </a:solidFill>
                <a:latin typeface="Noto Sans JP"/>
                <a:ea typeface="Noto Sans JP"/>
                <a:cs typeface="Noto Sans JP"/>
                <a:sym typeface="Noto Sans JP"/>
              </a:rPr>
              <a:t>https://knowmax-ai-website.s3.amazonaws.com/wp-content/uploads/2023/12/26004145/Customer-Service-Call-Center.webp</a:t>
            </a:r>
            <a:endParaRPr/>
          </a:p>
        </p:txBody>
      </p:sp>
      <p:sp>
        <p:nvSpPr>
          <p:cNvPr id="297" name="Google Shape;297;p24"/>
          <p:cNvSpPr txBox="1"/>
          <p:nvPr/>
        </p:nvSpPr>
        <p:spPr>
          <a:xfrm>
            <a:off x="1571625" y="5731966"/>
            <a:ext cx="101441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33333"/>
                </a:solidFill>
                <a:latin typeface="Noto Sans JP"/>
                <a:ea typeface="Noto Sans JP"/>
                <a:cs typeface="Noto Sans JP"/>
                <a:sym typeface="Noto Sans JP"/>
              </a:rPr>
              <a:t>Source: </a:t>
            </a:r>
            <a:r>
              <a:rPr b="0" i="0" lang="en-US" sz="1200" u="none" cap="none" strike="noStrike">
                <a:solidFill>
                  <a:srgbClr val="4F46E5"/>
                </a:solidFill>
                <a:latin typeface="Noto Sans JP"/>
                <a:ea typeface="Noto Sans JP"/>
                <a:cs typeface="Noto Sans JP"/>
                <a:sym typeface="Noto Sans JP"/>
              </a:rPr>
              <a:t>knowmax.ai</a:t>
            </a:r>
            <a:endParaRPr/>
          </a:p>
        </p:txBody>
      </p:sp>
      <p:sp>
        <p:nvSpPr>
          <p:cNvPr id="298" name="Google Shape;298;p24"/>
          <p:cNvSpPr txBox="1"/>
          <p:nvPr/>
        </p:nvSpPr>
        <p:spPr>
          <a:xfrm>
            <a:off x="476250" y="476250"/>
            <a:ext cx="117157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Noto Sans JP"/>
                <a:ea typeface="Noto Sans JP"/>
                <a:cs typeface="Noto Sans JP"/>
                <a:sym typeface="Noto Sans JP"/>
              </a:rPr>
              <a:t>Image Sources</a:t>
            </a:r>
            <a:endParaRPr/>
          </a:p>
        </p:txBody>
      </p:sp>
      <p:sp>
        <p:nvSpPr>
          <p:cNvPr id="299" name="Google Shape;299;p24"/>
          <p:cNvSpPr/>
          <p:nvPr/>
        </p:nvSpPr>
        <p:spPr>
          <a:xfrm>
            <a:off x="476250" y="1143000"/>
            <a:ext cx="112395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A94E3B895A50144DB2C947646FD7D2FE" ma:contentTypeVersion="16" ma:contentTypeDescription="新しいドキュメントを作成します。" ma:contentTypeScope="" ma:versionID="df3a2d9efee65e7d0505cad75f8cb7fd">
  <xsd:schema xmlns:xsd="http://www.w3.org/2001/XMLSchema" xmlns:xs="http://www.w3.org/2001/XMLSchema" xmlns:p="http://schemas.microsoft.com/office/2006/metadata/properties" xmlns:ns2="ff4e317d-5cdf-45f2-b17d-8f62f41c8b0e" xmlns:ns3="d0b4f91b-a2f6-4a03-b779-87efd4be94c5" targetNamespace="http://schemas.microsoft.com/office/2006/metadata/properties" ma:root="true" ma:fieldsID="fc21cb9584843addfd12d6196daef2b8" ns2:_="" ns3:_="">
    <xsd:import namespace="ff4e317d-5cdf-45f2-b17d-8f62f41c8b0e"/>
    <xsd:import namespace="d0b4f91b-a2f6-4a03-b779-87efd4be94c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4e317d-5cdf-45f2-b17d-8f62f41c8b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画像タグ" ma:readOnly="false" ma:fieldId="{5cf76f15-5ced-4ddc-b409-7134ff3c332f}" ma:taxonomyMulti="true" ma:sspId="4fc079cf-368d-4738-8e08-a0b0e68d1a9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0b4f91b-a2f6-4a03-b779-87efd4be94c5" elementFormDefault="qualified">
    <xsd:import namespace="http://schemas.microsoft.com/office/2006/documentManagement/types"/>
    <xsd:import namespace="http://schemas.microsoft.com/office/infopath/2007/PartnerControls"/>
    <xsd:element name="SharedWithUsers" ma:index="16"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共有相手の詳細情報" ma:internalName="SharedWithDetails" ma:readOnly="true">
      <xsd:simpleType>
        <xsd:restriction base="dms:Note">
          <xsd:maxLength value="255"/>
        </xsd:restriction>
      </xsd:simpleType>
    </xsd:element>
    <xsd:element name="TaxCatchAll" ma:index="20" nillable="true" ma:displayName="Taxonomy Catch All Column" ma:hidden="true" ma:list="{e54149c2-1f39-40c1-9a8a-eb3820dfa202}" ma:internalName="TaxCatchAll" ma:showField="CatchAllData" ma:web="d0b4f91b-a2f6-4a03-b779-87efd4be94c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f4e317d-5cdf-45f2-b17d-8f62f41c8b0e">
      <Terms xmlns="http://schemas.microsoft.com/office/infopath/2007/PartnerControls"/>
    </lcf76f155ced4ddcb4097134ff3c332f>
    <TaxCatchAll xmlns="d0b4f91b-a2f6-4a03-b779-87efd4be94c5" xsi:nil="true"/>
  </documentManagement>
</p:properties>
</file>

<file path=customXml/itemProps1.xml><?xml version="1.0" encoding="utf-8"?>
<ds:datastoreItem xmlns:ds="http://schemas.openxmlformats.org/officeDocument/2006/customXml" ds:itemID="{1AE6EE47-EE8F-474B-A5DC-C4305088A932}"/>
</file>

<file path=customXml/itemProps2.xml><?xml version="1.0" encoding="utf-8"?>
<ds:datastoreItem xmlns:ds="http://schemas.openxmlformats.org/officeDocument/2006/customXml" ds:itemID="{03B6F60D-7106-4672-92ED-58D0CA291674}"/>
</file>

<file path=customXml/itemProps3.xml><?xml version="1.0" encoding="utf-8"?>
<ds:datastoreItem xmlns:ds="http://schemas.openxmlformats.org/officeDocument/2006/customXml" ds:itemID="{7DF2976E-AB26-44C0-8C06-7BE3E00E1D8A}"/>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0x010100A94E3B895A50144DB2C947646FD7D2FE</vt:lpwstr>
  </property>
</Properties>
</file>